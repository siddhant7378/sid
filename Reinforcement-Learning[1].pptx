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67" r:id="rId5"/>
    <p:sldId id="257" r:id="rId6"/>
    <p:sldId id="258" r:id="rId7"/>
    <p:sldId id="259" r:id="rId8"/>
    <p:sldId id="260" r:id="rId9"/>
    <p:sldId id="261" r:id="rId10"/>
    <p:sldId id="262" r:id="rId11"/>
    <p:sldId id="263" r:id="rId12"/>
    <p:sldId id="264" r:id="rId13"/>
    <p:sldId id="265" r:id="rId14"/>
  </p:sldIdLst>
  <p:sldSz cx="14630400" cy="8229600"/>
  <p:notesSz cx="8229600" cy="14630400"/>
  <p:embeddedFontLst>
    <p:embeddedFont>
      <p:font typeface="Tomorrow Semi Bold" charset="0"/>
      <p:regular r:id="rId18"/>
    </p:embeddedFont>
    <p:embeddedFont>
      <p:font typeface="Tomorrow Semi Bold" pitchFamily="34" charset="-122"/>
      <p:regular r:id="rId19"/>
    </p:embeddedFont>
    <p:embeddedFont>
      <p:font typeface="Tomorrow Semi Bold" pitchFamily="34" charset="-120"/>
      <p:regular r:id="rId20"/>
    </p:embeddedFont>
    <p:embeddedFont>
      <p:font typeface="Tomorrow" pitchFamily="34" charset="0"/>
      <p:bold r:id="rId21"/>
    </p:embeddedFont>
    <p:embeddedFont>
      <p:font typeface="Tomorrow" pitchFamily="34" charset="-122"/>
      <p:bold r:id="rId22"/>
    </p:embeddedFont>
    <p:embeddedFont>
      <p:font typeface="Tomorrow" pitchFamily="34" charset="-120"/>
      <p:bold r:id="rId23"/>
    </p:embeddedFont>
    <p:embeddedFont>
      <p:font typeface="Calibri" panose="020F0502020204030204" charset="0"/>
      <p:regular r:id="rId24"/>
      <p:bold r:id="rId25"/>
      <p:italic r:id="rId26"/>
      <p:boldItalic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10.fntdata"/><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p:spPr>
      </p:sp>
      <p:sp>
        <p:nvSpPr>
          <p:cNvPr id="3" name="Shape 1"/>
          <p:cNvSpPr/>
          <p:nvPr/>
        </p:nvSpPr>
        <p:spPr>
          <a:xfrm>
            <a:off x="0" y="0"/>
            <a:ext cx="14630400" cy="8229600"/>
          </a:xfrm>
          <a:prstGeom prst="rect">
            <a:avLst/>
          </a:prstGeom>
          <a:solidFill>
            <a:srgbClr val="FCFCFC"/>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8.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9.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3933230"/>
            <a:ext cx="1668185" cy="362903"/>
          </a:xfrm>
          <a:prstGeom prst="rect">
            <a:avLst/>
          </a:prstGeom>
          <a:noFill/>
        </p:spPr>
        <p:txBody>
          <a:bodyPr wrap="none" lIns="0" tIns="0" rIns="0" bIns="0" rtlCol="0" anchor="t"/>
          <a:lstStyle/>
          <a:p>
            <a:pPr marL="0" indent="0">
              <a:lnSpc>
                <a:spcPts val="2850"/>
              </a:lnSpc>
              <a:buNone/>
            </a:pPr>
            <a:endParaRPr lang="en-US" sz="1750" dirty="0"/>
          </a:p>
        </p:txBody>
      </p:sp>
      <p:sp>
        <p:nvSpPr>
          <p:cNvPr id="3" name="Text 1"/>
          <p:cNvSpPr/>
          <p:nvPr/>
        </p:nvSpPr>
        <p:spPr>
          <a:xfrm>
            <a:off x="1735813" y="485776"/>
            <a:ext cx="11846837" cy="1266824"/>
          </a:xfrm>
          <a:prstGeom prst="rect">
            <a:avLst/>
          </a:prstGeom>
          <a:noFill/>
        </p:spPr>
        <p:txBody>
          <a:bodyPr wrap="none" lIns="0" tIns="0" rIns="0" bIns="0" rtlCol="0" anchor="t"/>
          <a:lstStyle/>
          <a:p>
            <a:pPr marL="0" indent="0" algn="ctr">
              <a:lnSpc>
                <a:spcPts val="5550"/>
              </a:lnSpc>
              <a:buNone/>
            </a:pPr>
            <a:r>
              <a:rPr lang="en-US" sz="4450" dirty="0"/>
              <a:t> </a:t>
            </a:r>
            <a:r>
              <a:rPr lang="en-IN" sz="4800" b="1" dirty="0">
                <a:latin typeface="Times New Roman" panose="02020603050405020304" pitchFamily="18" charset="0"/>
                <a:cs typeface="Times New Roman" panose="02020603050405020304" pitchFamily="18" charset="0"/>
              </a:rPr>
              <a:t>SANJIVANI UNIVERSITY</a:t>
            </a:r>
            <a:br>
              <a:rPr lang="en-IN" sz="4800" b="1" dirty="0">
                <a:latin typeface="Times New Roman" panose="02020603050405020304" pitchFamily="18" charset="0"/>
                <a:cs typeface="Times New Roman" panose="02020603050405020304" pitchFamily="18" charset="0"/>
              </a:rPr>
            </a:br>
            <a:r>
              <a:rPr lang="en-IN" sz="4800" b="1" dirty="0">
                <a:latin typeface="Times New Roman" panose="02020603050405020304" pitchFamily="18" charset="0"/>
                <a:cs typeface="Times New Roman" panose="02020603050405020304" pitchFamily="18" charset="0"/>
              </a:rPr>
              <a:t>SANJIVANI GROUP OF INSTITUTES</a:t>
            </a:r>
            <a:endParaRPr lang="en-US" sz="4450" dirty="0"/>
          </a:p>
        </p:txBody>
      </p:sp>
      <p:sp>
        <p:nvSpPr>
          <p:cNvPr id="4" name="Text 2"/>
          <p:cNvSpPr/>
          <p:nvPr/>
        </p:nvSpPr>
        <p:spPr>
          <a:xfrm>
            <a:off x="676276" y="2733675"/>
            <a:ext cx="13420724" cy="902017"/>
          </a:xfrm>
          <a:prstGeom prst="rect">
            <a:avLst/>
          </a:prstGeom>
          <a:noFill/>
        </p:spPr>
        <p:txBody>
          <a:bodyPr wrap="square" lIns="0" tIns="0" rIns="0" bIns="0" rtlCol="0" anchor="t"/>
          <a:lstStyle/>
          <a:p>
            <a:pPr marL="0" indent="0" algn="ctr">
              <a:lnSpc>
                <a:spcPts val="2850"/>
              </a:lnSpc>
              <a:buNone/>
            </a:pPr>
            <a:r>
              <a:rPr lang="en-IN" sz="3200" b="1" dirty="0">
                <a:latin typeface="Times New Roman" panose="02020603050405020304" pitchFamily="18" charset="0"/>
                <a:cs typeface="Times New Roman" panose="02020603050405020304" pitchFamily="18" charset="0"/>
              </a:rPr>
              <a:t>Presentation On:</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Reinforcement Learning </a:t>
            </a:r>
            <a:br>
              <a:rPr lang="en-IN" sz="2400" b="1" dirty="0">
                <a:latin typeface="Times New Roman" panose="02020603050405020304" pitchFamily="18" charset="0"/>
                <a:cs typeface="Times New Roman" panose="02020603050405020304" pitchFamily="18" charset="0"/>
              </a:rPr>
            </a:br>
            <a:endParaRPr lang="en-US" sz="1750" dirty="0"/>
          </a:p>
        </p:txBody>
      </p:sp>
      <p:sp>
        <p:nvSpPr>
          <p:cNvPr id="5" name="Text 3"/>
          <p:cNvSpPr/>
          <p:nvPr/>
        </p:nvSpPr>
        <p:spPr>
          <a:xfrm>
            <a:off x="182166" y="6698934"/>
            <a:ext cx="13914833" cy="666950"/>
          </a:xfrm>
          <a:prstGeom prst="rect">
            <a:avLst/>
          </a:prstGeom>
          <a:noFill/>
        </p:spPr>
        <p:txBody>
          <a:bodyPr wrap="none" lIns="0" tIns="0" rIns="0" bIns="0" rtlCol="0" anchor="t"/>
          <a:lstStyle/>
          <a:p>
            <a:pPr marL="0" indent="0">
              <a:lnSpc>
                <a:spcPts val="2850"/>
              </a:lnSpc>
              <a:buNone/>
            </a:pPr>
            <a:r>
              <a:rPr lang="en-IN" sz="1800" b="1" dirty="0">
                <a:latin typeface="Times New Roman" panose="02020603050405020304" pitchFamily="18" charset="0"/>
                <a:cs typeface="Times New Roman" panose="02020603050405020304" pitchFamily="18" charset="0"/>
              </a:rPr>
              <a:t>Guided By:                                                                                                                                                                                                     HOD OF AIDS</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Prof. Chaitanya Kale                                                                                                                                                                                    </a:t>
            </a:r>
            <a:r>
              <a:rPr lang="en-IN" sz="1800" b="1" dirty="0" err="1">
                <a:latin typeface="Times New Roman" panose="02020603050405020304" pitchFamily="18" charset="0"/>
                <a:cs typeface="Times New Roman" panose="02020603050405020304" pitchFamily="18" charset="0"/>
              </a:rPr>
              <a:t>Dr.</a:t>
            </a:r>
            <a:r>
              <a:rPr lang="en-IN" sz="1800" b="1" dirty="0">
                <a:latin typeface="Times New Roman" panose="02020603050405020304" pitchFamily="18" charset="0"/>
                <a:cs typeface="Times New Roman" panose="02020603050405020304" pitchFamily="18" charset="0"/>
              </a:rPr>
              <a:t> K. </a:t>
            </a:r>
            <a:r>
              <a:rPr lang="en-IN" sz="1800" b="1" dirty="0" err="1">
                <a:latin typeface="Times New Roman" panose="02020603050405020304" pitchFamily="18" charset="0"/>
                <a:cs typeface="Times New Roman" panose="02020603050405020304" pitchFamily="18" charset="0"/>
              </a:rPr>
              <a:t>Vengatesan</a:t>
            </a:r>
            <a:r>
              <a:rPr lang="en-IN" sz="1800" dirty="0">
                <a:latin typeface="Times New Roman" panose="02020603050405020304" pitchFamily="18" charset="0"/>
                <a:cs typeface="Times New Roman" panose="02020603050405020304" pitchFamily="18" charset="0"/>
              </a:rPr>
              <a:t>     </a:t>
            </a:r>
            <a:br>
              <a:rPr lang="en-IN" sz="2400" b="1" dirty="0">
                <a:latin typeface="Times New Roman" panose="02020603050405020304" pitchFamily="18" charset="0"/>
                <a:cs typeface="Times New Roman" panose="02020603050405020304" pitchFamily="18" charset="0"/>
              </a:rPr>
            </a:br>
            <a:endParaRPr lang="en-US" sz="1750" dirty="0"/>
          </a:p>
        </p:txBody>
      </p:sp>
      <p:sp>
        <p:nvSpPr>
          <p:cNvPr id="6" name="Text 4"/>
          <p:cNvSpPr/>
          <p:nvPr/>
        </p:nvSpPr>
        <p:spPr>
          <a:xfrm>
            <a:off x="3022997" y="5160883"/>
            <a:ext cx="7181374" cy="362903"/>
          </a:xfrm>
          <a:prstGeom prst="rect">
            <a:avLst/>
          </a:prstGeom>
          <a:noFill/>
        </p:spPr>
        <p:txBody>
          <a:bodyPr wrap="none" lIns="0" tIns="0" rIns="0" bIns="0" rtlCol="0" anchor="t"/>
          <a:lstStyle/>
          <a:p>
            <a:pPr marL="0" indent="0">
              <a:lnSpc>
                <a:spcPts val="2850"/>
              </a:lnSpc>
              <a:buNone/>
            </a:pPr>
            <a:endParaRPr lang="en-US" sz="1750" dirty="0"/>
          </a:p>
        </p:txBody>
      </p:sp>
      <p:pic>
        <p:nvPicPr>
          <p:cNvPr id="7" name="Image 0" descr="preencoded.png"/>
          <p:cNvPicPr>
            <a:picLocks noChangeAspect="1"/>
          </p:cNvPicPr>
          <p:nvPr/>
        </p:nvPicPr>
        <p:blipFill>
          <a:blip r:embed="rId1"/>
          <a:stretch>
            <a:fillRect/>
          </a:stretch>
        </p:blipFill>
        <p:spPr>
          <a:xfrm>
            <a:off x="182166" y="165973"/>
            <a:ext cx="1553647" cy="1519833"/>
          </a:xfrm>
          <a:prstGeom prst="rect">
            <a:avLst/>
          </a:prstGeom>
        </p:spPr>
      </p:pic>
      <p:sp>
        <p:nvSpPr>
          <p:cNvPr id="8" name="Rectangles 7"/>
          <p:cNvSpPr/>
          <p:nvPr/>
        </p:nvSpPr>
        <p:spPr>
          <a:xfrm>
            <a:off x="12776835" y="7743825"/>
            <a:ext cx="1897380" cy="485776"/>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p>
        </p:txBody>
      </p:sp>
      <p:sp>
        <p:nvSpPr>
          <p:cNvPr id="9" name="TextBox 8"/>
          <p:cNvSpPr txBox="1"/>
          <p:nvPr/>
        </p:nvSpPr>
        <p:spPr>
          <a:xfrm>
            <a:off x="4733925" y="4419600"/>
            <a:ext cx="4981575" cy="954107"/>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Presented By:</a:t>
            </a:r>
            <a:br>
              <a:rPr lang="en-IN" sz="2800" b="1" dirty="0">
                <a:latin typeface="Times New Roman" panose="02020603050405020304" pitchFamily="18" charset="0"/>
                <a:cs typeface="Times New Roman" panose="02020603050405020304" pitchFamily="18" charset="0"/>
              </a:rPr>
            </a:br>
            <a:r>
              <a:rPr lang="en-IN" sz="2800" b="1" dirty="0" err="1">
                <a:latin typeface="Times New Roman" panose="02020603050405020304" pitchFamily="18" charset="0"/>
                <a:cs typeface="Times New Roman" panose="02020603050405020304" pitchFamily="18" charset="0"/>
              </a:rPr>
              <a:t>Kolhe</a:t>
            </a:r>
            <a:r>
              <a:rPr lang="en-IN" sz="2800" b="1" dirty="0">
                <a:latin typeface="Times New Roman" panose="02020603050405020304" pitchFamily="18" charset="0"/>
                <a:cs typeface="Times New Roman" panose="02020603050405020304" pitchFamily="18" charset="0"/>
              </a:rPr>
              <a:t> Shamal </a:t>
            </a:r>
            <a:r>
              <a:rPr lang="en-IN" sz="2800" b="1" dirty="0" err="1">
                <a:latin typeface="Times New Roman" panose="02020603050405020304" pitchFamily="18" charset="0"/>
                <a:cs typeface="Times New Roman" panose="02020603050405020304" pitchFamily="18" charset="0"/>
              </a:rPr>
              <a:t>Navnath</a:t>
            </a:r>
            <a:endParaRPr lang="en-I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12898755" y="7771130"/>
            <a:ext cx="1731645" cy="45847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4" name="TextBox 3"/>
          <p:cNvSpPr txBox="1"/>
          <p:nvPr/>
        </p:nvSpPr>
        <p:spPr>
          <a:xfrm>
            <a:off x="1666875" y="552450"/>
            <a:ext cx="2495550" cy="646331"/>
          </a:xfrm>
          <a:prstGeom prst="rect">
            <a:avLst/>
          </a:prstGeom>
          <a:noFill/>
        </p:spPr>
        <p:txBody>
          <a:bodyPr wrap="square" rtlCol="0">
            <a:spAutoFit/>
          </a:bodyPr>
          <a:lstStyle/>
          <a:p>
            <a:r>
              <a:rPr lang="en-IN" sz="3600" b="1" dirty="0">
                <a:latin typeface="Tomorrow Semi Bold" charset="0"/>
              </a:rPr>
              <a:t>Content</a:t>
            </a:r>
            <a:endParaRPr lang="en-IN" sz="3600" b="1" dirty="0">
              <a:latin typeface="Tomorrow Semi Bold" charset="0"/>
            </a:endParaRPr>
          </a:p>
        </p:txBody>
      </p:sp>
      <p:sp>
        <p:nvSpPr>
          <p:cNvPr id="5" name="TextBox 4"/>
          <p:cNvSpPr txBox="1"/>
          <p:nvPr/>
        </p:nvSpPr>
        <p:spPr>
          <a:xfrm>
            <a:off x="1666875" y="1914525"/>
            <a:ext cx="4362450" cy="3693319"/>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omorrow Semi Bold" charset="0"/>
              </a:rPr>
              <a:t>Introduction</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Literature Survey</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Objectives and Scope</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System Requirements</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Existing System</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Proposed System</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Application</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Conclusion</a:t>
            </a:r>
            <a:endParaRPr lang="en-IN" sz="2400" dirty="0">
              <a:latin typeface="Tomorrow Semi Bold" charset="0"/>
            </a:endParaRPr>
          </a:p>
          <a:p>
            <a:pPr marL="285750" indent="-285750">
              <a:buFont typeface="Arial" panose="020B0604020202020204" pitchFamily="34" charset="0"/>
              <a:buChar char="•"/>
            </a:pPr>
            <a:r>
              <a:rPr lang="en-IN" sz="2400" dirty="0">
                <a:latin typeface="Tomorrow Semi Bold" charset="0"/>
              </a:rPr>
              <a:t>Reference</a:t>
            </a:r>
            <a:endParaRPr lang="en-IN" sz="2400" dirty="0">
              <a:latin typeface="Tomorrow Semi Bold"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74294"/>
            <a:ext cx="7556421" cy="2126337"/>
          </a:xfrm>
          <a:prstGeom prst="rect">
            <a:avLst/>
          </a:prstGeom>
          <a:noFill/>
        </p:spPr>
        <p:txBody>
          <a:bodyPr wrap="square" lIns="0" tIns="0" rIns="0" bIns="0" rtlCol="0" anchor="t"/>
          <a:lstStyle/>
          <a:p>
            <a:pPr marL="0" indent="0">
              <a:lnSpc>
                <a:spcPts val="5550"/>
              </a:lnSpc>
              <a:buNone/>
            </a:pPr>
            <a:r>
              <a:rPr lang="en-US" sz="4450" dirty="0">
                <a:solidFill>
                  <a:srgbClr val="1D1D1B"/>
                </a:solidFill>
                <a:latin typeface="Tomorrow Semi Bold" charset="0"/>
                <a:ea typeface="Tomorrow Semi Bold" pitchFamily="34" charset="-122"/>
                <a:cs typeface="Tomorrow Semi Bold" pitchFamily="34" charset="-120"/>
              </a:rPr>
              <a:t>Reinforcement Learning: Unlocking the Power of Adaptive Intelligence</a:t>
            </a:r>
            <a:endParaRPr lang="en-US" sz="4450" dirty="0"/>
          </a:p>
        </p:txBody>
      </p:sp>
      <p:sp>
        <p:nvSpPr>
          <p:cNvPr id="4" name="Text 1"/>
          <p:cNvSpPr/>
          <p:nvPr/>
        </p:nvSpPr>
        <p:spPr>
          <a:xfrm>
            <a:off x="793790" y="4440793"/>
            <a:ext cx="7556421" cy="1814513"/>
          </a:xfrm>
          <a:prstGeom prst="rect">
            <a:avLst/>
          </a:prstGeom>
          <a:noFill/>
        </p:spPr>
        <p:txBody>
          <a:bodyPr wrap="square" lIns="0" tIns="0" rIns="0" bIns="0" rtlCol="0" anchor="t"/>
          <a:lstStyle/>
          <a:p>
            <a:pPr marL="0" indent="0">
              <a:lnSpc>
                <a:spcPts val="2850"/>
              </a:lnSpc>
              <a:buNone/>
            </a:pPr>
            <a:r>
              <a:rPr lang="en-US" sz="1750" dirty="0">
                <a:solidFill>
                  <a:srgbClr val="61615C"/>
                </a:solidFill>
                <a:latin typeface="Tomorrow" pitchFamily="34" charset="0"/>
                <a:ea typeface="Tomorrow" pitchFamily="34" charset="-122"/>
                <a:cs typeface="Tomorrow" pitchFamily="34" charset="-120"/>
              </a:rPr>
              <a:t>Reinforcement learning is a dynamic and adaptive approach to machine learning, where AI agents learn by interacting with their environment and receiving feedback to optimize their actions. This powerful technique enables systems to tackle complex, real-world problems with ever-evolving solutions.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50" y="391160"/>
            <a:ext cx="12853035" cy="1066800"/>
          </a:xfrm>
          <a:prstGeom prst="rect">
            <a:avLst/>
          </a:prstGeom>
          <a:noFill/>
        </p:spPr>
        <p:txBody>
          <a:bodyPr wrap="none" lIns="0" tIns="0" rIns="0" bIns="0" rtlCol="0" anchor="t"/>
          <a:lstStyle/>
          <a:p>
            <a:pPr marL="0" indent="0">
              <a:lnSpc>
                <a:spcPts val="5550"/>
              </a:lnSpc>
              <a:buNone/>
            </a:pPr>
            <a:r>
              <a:rPr lang="en-US" sz="4450" dirty="0">
                <a:solidFill>
                  <a:srgbClr val="1D1D1B"/>
                </a:solidFill>
                <a:latin typeface="Tomorrow Semi Bold" charset="0"/>
                <a:ea typeface="Tomorrow Semi Bold" pitchFamily="34" charset="-122"/>
                <a:cs typeface="Tomorrow Semi Bold" pitchFamily="34" charset="-120"/>
              </a:rPr>
              <a:t>Literature Survey: Exploring the Foundations</a:t>
            </a:r>
            <a:endParaRPr lang="en-US" sz="4450" dirty="0"/>
          </a:p>
        </p:txBody>
      </p:sp>
      <p:sp>
        <p:nvSpPr>
          <p:cNvPr id="3" name="Text 1"/>
          <p:cNvSpPr/>
          <p:nvPr/>
        </p:nvSpPr>
        <p:spPr>
          <a:xfrm>
            <a:off x="793790" y="3634264"/>
            <a:ext cx="2835235" cy="354330"/>
          </a:xfrm>
          <a:prstGeom prst="rect">
            <a:avLst/>
          </a:prstGeom>
          <a:noFill/>
        </p:spPr>
        <p:txBody>
          <a:bodyPr wrap="none" lIns="0" tIns="0" rIns="0" bIns="0" rtlCol="0" anchor="t"/>
          <a:lstStyle/>
          <a:p>
            <a:pPr marL="0" indent="0">
              <a:lnSpc>
                <a:spcPts val="2750"/>
              </a:lnSpc>
              <a:buNone/>
            </a:pPr>
            <a:endParaRPr lang="en-US" sz="2200" dirty="0"/>
          </a:p>
        </p:txBody>
      </p:sp>
      <p:sp>
        <p:nvSpPr>
          <p:cNvPr id="4" name="Text 2"/>
          <p:cNvSpPr/>
          <p:nvPr/>
        </p:nvSpPr>
        <p:spPr>
          <a:xfrm>
            <a:off x="411480" y="6164580"/>
            <a:ext cx="3978275" cy="2007235"/>
          </a:xfrm>
          <a:prstGeom prst="rect">
            <a:avLst/>
          </a:prstGeom>
          <a:noFill/>
        </p:spPr>
        <p:txBody>
          <a:bodyPr wrap="square" lIns="0" tIns="0" rIns="0" bIns="0" rtlCol="0" anchor="t"/>
          <a:lstStyle/>
          <a:p>
            <a:pPr marL="0" indent="0">
              <a:lnSpc>
                <a:spcPts val="2850"/>
              </a:lnSpc>
              <a:buNone/>
            </a:pPr>
            <a:endParaRPr lang="en-US" sz="1750" dirty="0"/>
          </a:p>
        </p:txBody>
      </p:sp>
      <p:sp>
        <p:nvSpPr>
          <p:cNvPr id="5" name="Text 3"/>
          <p:cNvSpPr/>
          <p:nvPr/>
        </p:nvSpPr>
        <p:spPr>
          <a:xfrm>
            <a:off x="5332928" y="3634264"/>
            <a:ext cx="3944303" cy="354330"/>
          </a:xfrm>
          <a:prstGeom prst="rect">
            <a:avLst/>
          </a:prstGeom>
          <a:noFill/>
        </p:spPr>
        <p:txBody>
          <a:bodyPr wrap="none" lIns="0" tIns="0" rIns="0" bIns="0" rtlCol="0" anchor="t"/>
          <a:lstStyle/>
          <a:p>
            <a:pPr marL="0" indent="0">
              <a:lnSpc>
                <a:spcPts val="2750"/>
              </a:lnSpc>
              <a:buNone/>
            </a:pPr>
            <a:endParaRPr lang="en-US" sz="2200" dirty="0"/>
          </a:p>
        </p:txBody>
      </p:sp>
      <p:sp>
        <p:nvSpPr>
          <p:cNvPr id="6" name="Text 4"/>
          <p:cNvSpPr/>
          <p:nvPr/>
        </p:nvSpPr>
        <p:spPr>
          <a:xfrm>
            <a:off x="5332730" y="6078855"/>
            <a:ext cx="3978275" cy="1968500"/>
          </a:xfrm>
          <a:prstGeom prst="rect">
            <a:avLst/>
          </a:prstGeom>
          <a:noFill/>
        </p:spPr>
        <p:txBody>
          <a:bodyPr wrap="square" lIns="0" tIns="0" rIns="0" bIns="0" rtlCol="0" anchor="t"/>
          <a:lstStyle/>
          <a:p>
            <a:pPr marL="0" indent="0">
              <a:lnSpc>
                <a:spcPts val="2850"/>
              </a:lnSpc>
              <a:buNone/>
            </a:pPr>
            <a:endParaRPr lang="en-US" sz="1750" dirty="0"/>
          </a:p>
        </p:txBody>
      </p:sp>
      <p:sp>
        <p:nvSpPr>
          <p:cNvPr id="7" name="Text 5"/>
          <p:cNvSpPr/>
          <p:nvPr/>
        </p:nvSpPr>
        <p:spPr>
          <a:xfrm>
            <a:off x="12285702" y="7875429"/>
            <a:ext cx="3449479" cy="354330"/>
          </a:xfrm>
          <a:prstGeom prst="rect">
            <a:avLst/>
          </a:prstGeom>
          <a:noFill/>
        </p:spPr>
        <p:txBody>
          <a:bodyPr wrap="none" lIns="0" tIns="0" rIns="0" bIns="0" rtlCol="0" anchor="t"/>
          <a:lstStyle/>
          <a:p>
            <a:pPr marL="0" indent="0">
              <a:lnSpc>
                <a:spcPts val="2750"/>
              </a:lnSpc>
              <a:buNone/>
            </a:pPr>
            <a:endParaRPr lang="en-US" sz="2200" dirty="0"/>
          </a:p>
        </p:txBody>
      </p:sp>
      <p:sp>
        <p:nvSpPr>
          <p:cNvPr id="8" name="Text 6"/>
          <p:cNvSpPr/>
          <p:nvPr/>
        </p:nvSpPr>
        <p:spPr>
          <a:xfrm>
            <a:off x="3378557" y="6079133"/>
            <a:ext cx="3978116" cy="1451610"/>
          </a:xfrm>
          <a:prstGeom prst="rect">
            <a:avLst/>
          </a:prstGeom>
          <a:noFill/>
        </p:spPr>
        <p:txBody>
          <a:bodyPr wrap="square" lIns="0" tIns="0" rIns="0" bIns="0" rtlCol="0" anchor="t"/>
          <a:lstStyle/>
          <a:p>
            <a:pPr marL="0" indent="0">
              <a:lnSpc>
                <a:spcPts val="2850"/>
              </a:lnSpc>
              <a:buNone/>
            </a:pPr>
            <a:endParaRPr lang="en-US" sz="1750" dirty="0"/>
          </a:p>
        </p:txBody>
      </p:sp>
      <p:sp>
        <p:nvSpPr>
          <p:cNvPr id="9" name="Rectangles 8"/>
          <p:cNvSpPr/>
          <p:nvPr/>
        </p:nvSpPr>
        <p:spPr>
          <a:xfrm>
            <a:off x="12795885" y="7787640"/>
            <a:ext cx="1833880" cy="40767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graphicFrame>
        <p:nvGraphicFramePr>
          <p:cNvPr id="12" name="Table 11"/>
          <p:cNvGraphicFramePr/>
          <p:nvPr>
            <p:custDataLst>
              <p:tags r:id="rId1"/>
            </p:custDataLst>
          </p:nvPr>
        </p:nvGraphicFramePr>
        <p:xfrm>
          <a:off x="481965" y="1858010"/>
          <a:ext cx="13167360" cy="5229860"/>
        </p:xfrm>
        <a:graphic>
          <a:graphicData uri="http://schemas.openxmlformats.org/drawingml/2006/table">
            <a:tbl>
              <a:tblPr firstRow="1" bandRow="1">
                <a:tableStyleId>{5C22544A-7EE6-4342-B048-85BDC9FD1C3A}</a:tableStyleId>
              </a:tblPr>
              <a:tblGrid>
                <a:gridCol w="2385695"/>
                <a:gridCol w="2385695"/>
                <a:gridCol w="2385695"/>
                <a:gridCol w="2385695"/>
                <a:gridCol w="3624580"/>
              </a:tblGrid>
              <a:tr h="616585">
                <a:tc>
                  <a:txBody>
                    <a:bodyPr/>
                    <a:p>
                      <a:pPr>
                        <a:buNone/>
                      </a:pPr>
                      <a:r>
                        <a:rPr lang="en-IN" altLang="en-US"/>
                        <a:t>Title</a:t>
                      </a:r>
                      <a:endParaRPr lang="en-IN" altLang="en-US"/>
                    </a:p>
                  </a:txBody>
                  <a:tcPr/>
                </a:tc>
                <a:tc>
                  <a:txBody>
                    <a:bodyPr/>
                    <a:p>
                      <a:pPr>
                        <a:buNone/>
                      </a:pPr>
                      <a:r>
                        <a:rPr lang="en-IN" altLang="en-US"/>
                        <a:t>Author(s)</a:t>
                      </a:r>
                      <a:endParaRPr lang="en-IN" altLang="en-US"/>
                    </a:p>
                  </a:txBody>
                  <a:tcPr/>
                </a:tc>
                <a:tc>
                  <a:txBody>
                    <a:bodyPr/>
                    <a:p>
                      <a:pPr>
                        <a:buNone/>
                      </a:pPr>
                      <a:r>
                        <a:rPr lang="en-IN" altLang="en-US"/>
                        <a:t>Publication</a:t>
                      </a:r>
                      <a:endParaRPr lang="en-IN" altLang="en-US"/>
                    </a:p>
                  </a:txBody>
                  <a:tcPr/>
                </a:tc>
                <a:tc>
                  <a:txBody>
                    <a:bodyPr/>
                    <a:p>
                      <a:pPr>
                        <a:buNone/>
                      </a:pPr>
                      <a:r>
                        <a:rPr lang="en-IN" altLang="en-US"/>
                        <a:t>Publication Date</a:t>
                      </a:r>
                      <a:endParaRPr lang="en-IN" altLang="en-US"/>
                    </a:p>
                  </a:txBody>
                  <a:tcPr/>
                </a:tc>
                <a:tc>
                  <a:txBody>
                    <a:bodyPr/>
                    <a:p>
                      <a:pPr>
                        <a:buNone/>
                      </a:pPr>
                      <a:r>
                        <a:rPr lang="en-IN" altLang="en-US"/>
                        <a:t>Findings</a:t>
                      </a:r>
                      <a:endParaRPr lang="en-IN" altLang="en-US"/>
                    </a:p>
                  </a:txBody>
                  <a:tcPr/>
                </a:tc>
              </a:tr>
              <a:tr h="1105535">
                <a:tc>
                  <a:txBody>
                    <a:bodyPr/>
                    <a:p>
                      <a:pPr>
                        <a:buNone/>
                      </a:pPr>
                      <a:r>
                        <a:rPr lang="en-US"/>
                        <a:t>Reinforcement learning model, algorithms and its application</a:t>
                      </a:r>
                      <a:endParaRPr lang="en-US"/>
                    </a:p>
                  </a:txBody>
                  <a:tcPr/>
                </a:tc>
                <a:tc>
                  <a:txBody>
                    <a:bodyPr/>
                    <a:p>
                      <a:pPr>
                        <a:buNone/>
                      </a:pPr>
                      <a:r>
                        <a:rPr lang="en-US"/>
                        <a:t>Wang Qiang</a:t>
                      </a:r>
                      <a:r>
                        <a:rPr lang="en-IN" altLang="en-US"/>
                        <a:t>,</a:t>
                      </a:r>
                      <a:endParaRPr lang="en-IN" altLang="en-US"/>
                    </a:p>
                    <a:p>
                      <a:pPr>
                        <a:buNone/>
                      </a:pPr>
                      <a:r>
                        <a:rPr lang="en-IN" altLang="en-US"/>
                        <a:t>Zhan Zhongli</a:t>
                      </a:r>
                      <a:endParaRPr lang="en-IN" altLang="en-US"/>
                    </a:p>
                  </a:txBody>
                  <a:tcPr/>
                </a:tc>
                <a:tc>
                  <a:txBody>
                    <a:bodyPr/>
                    <a:p>
                      <a:pPr>
                        <a:buNone/>
                      </a:pPr>
                      <a:r>
                        <a:rPr lang="en-IN" altLang="en-US"/>
                        <a:t>IEEE</a:t>
                      </a:r>
                      <a:endParaRPr lang="en-IN" altLang="en-US"/>
                    </a:p>
                  </a:txBody>
                  <a:tcPr/>
                </a:tc>
                <a:tc>
                  <a:txBody>
                    <a:bodyPr/>
                    <a:p>
                      <a:pPr>
                        <a:buNone/>
                      </a:pPr>
                      <a:r>
                        <a:rPr lang="en-IN" altLang="en-US"/>
                        <a:t>2011</a:t>
                      </a:r>
                      <a:endParaRPr lang="en-IN" altLang="en-US"/>
                    </a:p>
                  </a:txBody>
                  <a:tcPr/>
                </a:tc>
                <a:tc>
                  <a:txBody>
                    <a:bodyPr/>
                    <a:p>
                      <a:pPr>
                        <a:buNone/>
                      </a:pPr>
                      <a:r>
                        <a:rPr lang="en-US"/>
                        <a:t>In this paper, we firstly survey the model and theory of reinforcement learning. </a:t>
                      </a:r>
                      <a:endParaRPr lang="en-US"/>
                    </a:p>
                  </a:txBody>
                  <a:tcPr/>
                </a:tc>
              </a:tr>
              <a:tr h="1496060">
                <a:tc>
                  <a:txBody>
                    <a:bodyPr/>
                    <a:p>
                      <a:pPr>
                        <a:buNone/>
                      </a:pPr>
                      <a:r>
                        <a:rPr lang="en-US"/>
                        <a:t>Reinforcement Learning Algorithms: An Overview</a:t>
                      </a:r>
                      <a:endParaRPr lang="en-US"/>
                    </a:p>
                    <a:p>
                      <a:pPr>
                        <a:buNone/>
                      </a:pPr>
                      <a:r>
                        <a:rPr lang="en-US"/>
                        <a:t>and Classification</a:t>
                      </a:r>
                      <a:endParaRPr lang="en-US"/>
                    </a:p>
                  </a:txBody>
                  <a:tcPr/>
                </a:tc>
                <a:tc>
                  <a:txBody>
                    <a:bodyPr/>
                    <a:p>
                      <a:pPr>
                        <a:buNone/>
                      </a:pPr>
                      <a:r>
                        <a:rPr lang="en-US"/>
                        <a:t>Fadi AlMahamid , Katarina Grolinger</a:t>
                      </a:r>
                      <a:endParaRPr lang="en-US"/>
                    </a:p>
                  </a:txBody>
                  <a:tcPr/>
                </a:tc>
                <a:tc>
                  <a:txBody>
                    <a:bodyPr/>
                    <a:p>
                      <a:pPr>
                        <a:buNone/>
                      </a:pPr>
                      <a:r>
                        <a:rPr lang="en-IN" altLang="en-US"/>
                        <a:t>ARXIV.org</a:t>
                      </a:r>
                      <a:endParaRPr lang="en-IN" altLang="en-US"/>
                    </a:p>
                  </a:txBody>
                  <a:tcPr/>
                </a:tc>
                <a:tc>
                  <a:txBody>
                    <a:bodyPr/>
                    <a:p>
                      <a:pPr>
                        <a:buNone/>
                      </a:pPr>
                      <a:r>
                        <a:rPr lang="en-IN" altLang="en-US"/>
                        <a:t>2023</a:t>
                      </a:r>
                      <a:endParaRPr lang="en-IN" altLang="en-US"/>
                    </a:p>
                  </a:txBody>
                  <a:tcPr/>
                </a:tc>
                <a:tc>
                  <a:txBody>
                    <a:bodyPr/>
                    <a:p>
                      <a:pPr>
                        <a:buNone/>
                      </a:pPr>
                      <a:r>
                        <a:rPr lang="en-US"/>
                        <a:t>Reinforcement Learning</a:t>
                      </a:r>
                      <a:r>
                        <a:rPr lang="en-IN" altLang="en-US"/>
                        <a:t> </a:t>
                      </a:r>
                      <a:r>
                        <a:rPr lang="en-US"/>
                        <a:t>is one of the three</a:t>
                      </a:r>
                      <a:r>
                        <a:rPr lang="en-IN" altLang="en-US"/>
                        <a:t> </a:t>
                      </a:r>
                      <a:r>
                        <a:rPr lang="en-US"/>
                        <a:t>machine</a:t>
                      </a:r>
                      <a:r>
                        <a:rPr lang="en-IN" altLang="en-US"/>
                        <a:t> </a:t>
                      </a:r>
                      <a:r>
                        <a:rPr lang="en-US"/>
                        <a:t>learning. It uses agents acting as human experts in a</a:t>
                      </a:r>
                      <a:endParaRPr lang="en-US"/>
                    </a:p>
                    <a:p>
                      <a:pPr>
                        <a:buNone/>
                      </a:pPr>
                      <a:r>
                        <a:rPr lang="en-US"/>
                        <a:t>domain to take actions.</a:t>
                      </a:r>
                      <a:endParaRPr lang="en-US"/>
                    </a:p>
                  </a:txBody>
                  <a:tcPr/>
                </a:tc>
              </a:tr>
              <a:tr h="616585">
                <a:tc>
                  <a:txBody>
                    <a:bodyPr/>
                    <a:p>
                      <a:pPr>
                        <a:buNone/>
                      </a:pPr>
                      <a:r>
                        <a:rPr lang="en-US"/>
                        <a:t>Deep Reinforcement Learning: A Survey</a:t>
                      </a:r>
                      <a:endParaRPr lang="en-US"/>
                    </a:p>
                  </a:txBody>
                  <a:tcPr/>
                </a:tc>
                <a:tc>
                  <a:txBody>
                    <a:bodyPr/>
                    <a:p>
                      <a:pPr>
                        <a:buNone/>
                      </a:pPr>
                      <a:r>
                        <a:rPr lang="en-US"/>
                        <a:t>Xu Wang; </a:t>
                      </a:r>
                      <a:endParaRPr lang="en-US"/>
                    </a:p>
                    <a:p>
                      <a:pPr>
                        <a:buNone/>
                      </a:pPr>
                      <a:r>
                        <a:rPr lang="en-US"/>
                        <a:t>Sen Wang; </a:t>
                      </a:r>
                      <a:endParaRPr lang="en-US"/>
                    </a:p>
                    <a:p>
                      <a:pPr>
                        <a:buNone/>
                      </a:pPr>
                      <a:r>
                        <a:rPr lang="en-US"/>
                        <a:t>Xingxing Liang; Dawei Zhao; </a:t>
                      </a:r>
                      <a:endParaRPr lang="en-US"/>
                    </a:p>
                    <a:p>
                      <a:pPr>
                        <a:buNone/>
                      </a:pPr>
                      <a:r>
                        <a:rPr lang="en-US"/>
                        <a:t>Jincai Huang;</a:t>
                      </a:r>
                      <a:endParaRPr lang="en-US"/>
                    </a:p>
                    <a:p>
                      <a:pPr>
                        <a:buNone/>
                      </a:pPr>
                      <a:r>
                        <a:rPr lang="en-US"/>
                        <a:t>Xin Xu</a:t>
                      </a:r>
                      <a:endParaRPr lang="en-US"/>
                    </a:p>
                  </a:txBody>
                  <a:tcPr/>
                </a:tc>
                <a:tc>
                  <a:txBody>
                    <a:bodyPr/>
                    <a:p>
                      <a:pPr>
                        <a:buNone/>
                      </a:pPr>
                      <a:r>
                        <a:rPr lang="en-IN" altLang="en-US"/>
                        <a:t>IEEE</a:t>
                      </a:r>
                      <a:endParaRPr lang="en-IN" altLang="en-US"/>
                    </a:p>
                  </a:txBody>
                  <a:tcPr/>
                </a:tc>
                <a:tc>
                  <a:txBody>
                    <a:bodyPr/>
                    <a:p>
                      <a:pPr>
                        <a:buNone/>
                      </a:pPr>
                      <a:r>
                        <a:rPr lang="en-IN" altLang="en-US"/>
                        <a:t>2022</a:t>
                      </a:r>
                      <a:endParaRPr lang="en-IN" altLang="en-US"/>
                    </a:p>
                  </a:txBody>
                  <a:tcPr/>
                </a:tc>
                <a:tc>
                  <a:txBody>
                    <a:bodyPr/>
                    <a:p>
                      <a:pPr>
                        <a:buNone/>
                      </a:pPr>
                      <a:r>
                        <a:rPr lang="en-US"/>
                        <a:t>Deep reinforcement learning (DRL) integrates the feature representation ability of deep learning with the decision-making ability of reinforcement learning so that it can achieve powerful end-to-end learning control capabilities.</a:t>
                      </a:r>
                      <a:endParaRPr lang="en-US"/>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335915" y="-34290"/>
            <a:ext cx="5486400" cy="8229600"/>
          </a:xfrm>
          <a:prstGeom prst="rect">
            <a:avLst/>
          </a:prstGeom>
        </p:spPr>
      </p:pic>
      <p:sp>
        <p:nvSpPr>
          <p:cNvPr id="3" name="Text 0"/>
          <p:cNvSpPr/>
          <p:nvPr/>
        </p:nvSpPr>
        <p:spPr>
          <a:xfrm>
            <a:off x="6226135" y="581620"/>
            <a:ext cx="7664529" cy="1320879"/>
          </a:xfrm>
          <a:prstGeom prst="rect">
            <a:avLst/>
          </a:prstGeom>
          <a:noFill/>
        </p:spPr>
        <p:txBody>
          <a:bodyPr wrap="square" lIns="0" tIns="0" rIns="0" bIns="0" rtlCol="0" anchor="t"/>
          <a:lstStyle/>
          <a:p>
            <a:pPr marL="0" indent="0">
              <a:lnSpc>
                <a:spcPts val="5200"/>
              </a:lnSpc>
              <a:buNone/>
            </a:pPr>
            <a:r>
              <a:rPr lang="en-US" sz="4150" dirty="0">
                <a:solidFill>
                  <a:srgbClr val="1D1D1B"/>
                </a:solidFill>
                <a:latin typeface="Tomorrow Semi Bold" charset="0"/>
                <a:ea typeface="Tomorrow Semi Bold" pitchFamily="34" charset="-122"/>
                <a:cs typeface="Tomorrow Semi Bold" pitchFamily="34" charset="-120"/>
              </a:rPr>
              <a:t>Objectives and Scope: Defining the Roadmap</a:t>
            </a:r>
            <a:endParaRPr lang="en-US" sz="4150" dirty="0"/>
          </a:p>
        </p:txBody>
      </p:sp>
      <p:sp>
        <p:nvSpPr>
          <p:cNvPr id="4" name="Shape 1"/>
          <p:cNvSpPr/>
          <p:nvPr/>
        </p:nvSpPr>
        <p:spPr>
          <a:xfrm>
            <a:off x="6531650" y="2219444"/>
            <a:ext cx="22860" cy="5428536"/>
          </a:xfrm>
          <a:prstGeom prst="roundRect">
            <a:avLst>
              <a:gd name="adj" fmla="val 138692"/>
            </a:avLst>
          </a:prstGeom>
          <a:solidFill>
            <a:srgbClr val="D6D0D0"/>
          </a:solidFill>
        </p:spPr>
      </p:sp>
      <p:sp>
        <p:nvSpPr>
          <p:cNvPr id="5" name="Shape 2"/>
          <p:cNvSpPr/>
          <p:nvPr/>
        </p:nvSpPr>
        <p:spPr>
          <a:xfrm>
            <a:off x="6757988" y="2683550"/>
            <a:ext cx="739735" cy="22860"/>
          </a:xfrm>
          <a:prstGeom prst="roundRect">
            <a:avLst>
              <a:gd name="adj" fmla="val 138692"/>
            </a:avLst>
          </a:prstGeom>
          <a:solidFill>
            <a:srgbClr val="D6D0D0"/>
          </a:solidFill>
        </p:spPr>
      </p:sp>
      <p:sp>
        <p:nvSpPr>
          <p:cNvPr id="6" name="Shape 3"/>
          <p:cNvSpPr/>
          <p:nvPr/>
        </p:nvSpPr>
        <p:spPr>
          <a:xfrm>
            <a:off x="6305312" y="2457212"/>
            <a:ext cx="475536" cy="475536"/>
          </a:xfrm>
          <a:prstGeom prst="roundRect">
            <a:avLst>
              <a:gd name="adj" fmla="val 6667"/>
            </a:avLst>
          </a:prstGeom>
          <a:solidFill>
            <a:srgbClr val="F0EAEA"/>
          </a:solidFill>
        </p:spPr>
      </p:sp>
      <p:sp>
        <p:nvSpPr>
          <p:cNvPr id="7" name="Text 4"/>
          <p:cNvSpPr/>
          <p:nvPr/>
        </p:nvSpPr>
        <p:spPr>
          <a:xfrm>
            <a:off x="6470928" y="2536388"/>
            <a:ext cx="144304" cy="317063"/>
          </a:xfrm>
          <a:prstGeom prst="rect">
            <a:avLst/>
          </a:prstGeom>
          <a:noFill/>
        </p:spPr>
        <p:txBody>
          <a:bodyPr wrap="none" lIns="0" tIns="0" rIns="0" bIns="0" rtlCol="0" anchor="t"/>
          <a:lstStyle/>
          <a:p>
            <a:pPr marL="0" indent="0" algn="ctr">
              <a:lnSpc>
                <a:spcPts val="2450"/>
              </a:lnSpc>
              <a:buNone/>
            </a:pPr>
            <a:r>
              <a:rPr lang="en-US" sz="2450" dirty="0">
                <a:solidFill>
                  <a:srgbClr val="61615C"/>
                </a:solidFill>
                <a:latin typeface="Tomorrow Semi Bold" charset="0"/>
                <a:ea typeface="Tomorrow Semi Bold" pitchFamily="34" charset="-122"/>
                <a:cs typeface="Tomorrow Semi Bold" pitchFamily="34" charset="-120"/>
              </a:rPr>
              <a:t>1</a:t>
            </a:r>
            <a:endParaRPr lang="en-US" sz="2450" dirty="0"/>
          </a:p>
        </p:txBody>
      </p:sp>
      <p:sp>
        <p:nvSpPr>
          <p:cNvPr id="8" name="Text 5"/>
          <p:cNvSpPr/>
          <p:nvPr/>
        </p:nvSpPr>
        <p:spPr>
          <a:xfrm>
            <a:off x="7705487" y="2430780"/>
            <a:ext cx="2990731" cy="330160"/>
          </a:xfrm>
          <a:prstGeom prst="rect">
            <a:avLst/>
          </a:prstGeom>
          <a:noFill/>
        </p:spPr>
        <p:txBody>
          <a:bodyPr wrap="none" lIns="0" tIns="0" rIns="0" bIns="0" rtlCol="0" anchor="t"/>
          <a:lstStyle/>
          <a:p>
            <a:pPr marL="0" indent="0" algn="l">
              <a:lnSpc>
                <a:spcPts val="2600"/>
              </a:lnSpc>
              <a:buNone/>
            </a:pPr>
            <a:r>
              <a:rPr lang="en-US" sz="2050" dirty="0">
                <a:solidFill>
                  <a:srgbClr val="61615C"/>
                </a:solidFill>
                <a:latin typeface="Tomorrow Semi Bold" charset="0"/>
                <a:ea typeface="Tomorrow Semi Bold" pitchFamily="34" charset="-122"/>
                <a:cs typeface="Tomorrow Semi Bold" pitchFamily="34" charset="-120"/>
              </a:rPr>
              <a:t>Problem Identification</a:t>
            </a:r>
            <a:endParaRPr lang="en-US" sz="2050" dirty="0"/>
          </a:p>
        </p:txBody>
      </p:sp>
      <p:sp>
        <p:nvSpPr>
          <p:cNvPr id="9" name="Text 6"/>
          <p:cNvSpPr/>
          <p:nvPr/>
        </p:nvSpPr>
        <p:spPr>
          <a:xfrm>
            <a:off x="7705487" y="2887742"/>
            <a:ext cx="6185178" cy="676275"/>
          </a:xfrm>
          <a:prstGeom prst="rect">
            <a:avLst/>
          </a:prstGeom>
          <a:noFill/>
        </p:spPr>
        <p:txBody>
          <a:bodyPr wrap="square" lIns="0" tIns="0" rIns="0" bIns="0" rtlCol="0" anchor="t"/>
          <a:lstStyle/>
          <a:p>
            <a:pPr marL="0" indent="0" algn="l">
              <a:lnSpc>
                <a:spcPts val="2650"/>
              </a:lnSpc>
              <a:buNone/>
            </a:pPr>
            <a:r>
              <a:rPr lang="en-US" sz="1650" dirty="0">
                <a:solidFill>
                  <a:srgbClr val="61615C"/>
                </a:solidFill>
                <a:latin typeface="Tomorrow" pitchFamily="34" charset="0"/>
                <a:ea typeface="Tomorrow" pitchFamily="34" charset="-122"/>
                <a:cs typeface="Tomorrow" pitchFamily="34" charset="-120"/>
              </a:rPr>
              <a:t>Clearly define the challenges and pain points that reinforcement learning can address.</a:t>
            </a:r>
            <a:endParaRPr lang="en-US" sz="1650" dirty="0"/>
          </a:p>
        </p:txBody>
      </p:sp>
      <p:sp>
        <p:nvSpPr>
          <p:cNvPr id="10" name="Shape 7"/>
          <p:cNvSpPr/>
          <p:nvPr/>
        </p:nvSpPr>
        <p:spPr>
          <a:xfrm>
            <a:off x="6757988" y="4450794"/>
            <a:ext cx="739735" cy="22860"/>
          </a:xfrm>
          <a:prstGeom prst="roundRect">
            <a:avLst>
              <a:gd name="adj" fmla="val 138692"/>
            </a:avLst>
          </a:prstGeom>
          <a:solidFill>
            <a:srgbClr val="D6D0D0"/>
          </a:solidFill>
        </p:spPr>
      </p:sp>
      <p:sp>
        <p:nvSpPr>
          <p:cNvPr id="11" name="Shape 8"/>
          <p:cNvSpPr/>
          <p:nvPr/>
        </p:nvSpPr>
        <p:spPr>
          <a:xfrm>
            <a:off x="6305312" y="4224457"/>
            <a:ext cx="475536" cy="475536"/>
          </a:xfrm>
          <a:prstGeom prst="roundRect">
            <a:avLst>
              <a:gd name="adj" fmla="val 6667"/>
            </a:avLst>
          </a:prstGeom>
          <a:solidFill>
            <a:srgbClr val="F0EAEA"/>
          </a:solidFill>
        </p:spPr>
      </p:sp>
      <p:sp>
        <p:nvSpPr>
          <p:cNvPr id="12" name="Text 9"/>
          <p:cNvSpPr/>
          <p:nvPr/>
        </p:nvSpPr>
        <p:spPr>
          <a:xfrm>
            <a:off x="6436519" y="4303633"/>
            <a:ext cx="213003" cy="317063"/>
          </a:xfrm>
          <a:prstGeom prst="rect">
            <a:avLst/>
          </a:prstGeom>
          <a:noFill/>
        </p:spPr>
        <p:txBody>
          <a:bodyPr wrap="none" lIns="0" tIns="0" rIns="0" bIns="0" rtlCol="0" anchor="t"/>
          <a:lstStyle/>
          <a:p>
            <a:pPr marL="0" indent="0" algn="ctr">
              <a:lnSpc>
                <a:spcPts val="2450"/>
              </a:lnSpc>
              <a:buNone/>
            </a:pPr>
            <a:r>
              <a:rPr lang="en-US" sz="2450" dirty="0">
                <a:solidFill>
                  <a:srgbClr val="61615C"/>
                </a:solidFill>
                <a:latin typeface="Tomorrow Semi Bold" charset="0"/>
                <a:ea typeface="Tomorrow Semi Bold" pitchFamily="34" charset="-122"/>
                <a:cs typeface="Tomorrow Semi Bold" pitchFamily="34" charset="-120"/>
              </a:rPr>
              <a:t>2</a:t>
            </a:r>
            <a:endParaRPr lang="en-US" sz="2450" dirty="0"/>
          </a:p>
        </p:txBody>
      </p:sp>
      <p:sp>
        <p:nvSpPr>
          <p:cNvPr id="13" name="Text 10"/>
          <p:cNvSpPr/>
          <p:nvPr/>
        </p:nvSpPr>
        <p:spPr>
          <a:xfrm>
            <a:off x="7705487" y="4198025"/>
            <a:ext cx="2641997" cy="330160"/>
          </a:xfrm>
          <a:prstGeom prst="rect">
            <a:avLst/>
          </a:prstGeom>
          <a:noFill/>
        </p:spPr>
        <p:txBody>
          <a:bodyPr wrap="none" lIns="0" tIns="0" rIns="0" bIns="0" rtlCol="0" anchor="t"/>
          <a:lstStyle/>
          <a:p>
            <a:pPr marL="0" indent="0" algn="l">
              <a:lnSpc>
                <a:spcPts val="2600"/>
              </a:lnSpc>
              <a:buNone/>
            </a:pPr>
            <a:r>
              <a:rPr lang="en-US" sz="2050" dirty="0">
                <a:solidFill>
                  <a:srgbClr val="61615C"/>
                </a:solidFill>
                <a:latin typeface="Tomorrow Semi Bold" charset="0"/>
                <a:ea typeface="Tomorrow Semi Bold" pitchFamily="34" charset="-122"/>
                <a:cs typeface="Tomorrow Semi Bold" pitchFamily="34" charset="-120"/>
              </a:rPr>
              <a:t>Agent Design</a:t>
            </a:r>
            <a:endParaRPr lang="en-US" sz="2050" dirty="0"/>
          </a:p>
        </p:txBody>
      </p:sp>
      <p:sp>
        <p:nvSpPr>
          <p:cNvPr id="14" name="Text 11"/>
          <p:cNvSpPr/>
          <p:nvPr/>
        </p:nvSpPr>
        <p:spPr>
          <a:xfrm>
            <a:off x="7705487" y="4654987"/>
            <a:ext cx="6185178" cy="1014413"/>
          </a:xfrm>
          <a:prstGeom prst="rect">
            <a:avLst/>
          </a:prstGeom>
          <a:noFill/>
        </p:spPr>
        <p:txBody>
          <a:bodyPr wrap="square" lIns="0" tIns="0" rIns="0" bIns="0" rtlCol="0" anchor="t"/>
          <a:lstStyle/>
          <a:p>
            <a:pPr marL="0" indent="0" algn="l">
              <a:lnSpc>
                <a:spcPts val="2650"/>
              </a:lnSpc>
              <a:buNone/>
            </a:pPr>
            <a:r>
              <a:rPr lang="en-US" sz="1650" dirty="0">
                <a:solidFill>
                  <a:srgbClr val="61615C"/>
                </a:solidFill>
                <a:latin typeface="Tomorrow" pitchFamily="34" charset="0"/>
                <a:ea typeface="Tomorrow" pitchFamily="34" charset="-122"/>
                <a:cs typeface="Tomorrow" pitchFamily="34" charset="-120"/>
              </a:rPr>
              <a:t>Develop autonomous agents capable of perceiving their environment and taking actions to achieve desired outcomes.</a:t>
            </a:r>
            <a:endParaRPr lang="en-US" sz="1650" dirty="0"/>
          </a:p>
        </p:txBody>
      </p:sp>
      <p:sp>
        <p:nvSpPr>
          <p:cNvPr id="15" name="Shape 12"/>
          <p:cNvSpPr/>
          <p:nvPr/>
        </p:nvSpPr>
        <p:spPr>
          <a:xfrm>
            <a:off x="6757988" y="6556177"/>
            <a:ext cx="739735" cy="22860"/>
          </a:xfrm>
          <a:prstGeom prst="roundRect">
            <a:avLst>
              <a:gd name="adj" fmla="val 138692"/>
            </a:avLst>
          </a:prstGeom>
          <a:solidFill>
            <a:srgbClr val="D6D0D0"/>
          </a:solidFill>
        </p:spPr>
      </p:sp>
      <p:sp>
        <p:nvSpPr>
          <p:cNvPr id="16" name="Shape 13"/>
          <p:cNvSpPr/>
          <p:nvPr/>
        </p:nvSpPr>
        <p:spPr>
          <a:xfrm>
            <a:off x="6305312" y="6329839"/>
            <a:ext cx="475536" cy="475536"/>
          </a:xfrm>
          <a:prstGeom prst="roundRect">
            <a:avLst>
              <a:gd name="adj" fmla="val 6667"/>
            </a:avLst>
          </a:prstGeom>
          <a:solidFill>
            <a:srgbClr val="F0EAEA"/>
          </a:solidFill>
        </p:spPr>
      </p:sp>
      <p:sp>
        <p:nvSpPr>
          <p:cNvPr id="17" name="Text 14"/>
          <p:cNvSpPr/>
          <p:nvPr/>
        </p:nvSpPr>
        <p:spPr>
          <a:xfrm>
            <a:off x="6437114" y="6409015"/>
            <a:ext cx="211812" cy="317063"/>
          </a:xfrm>
          <a:prstGeom prst="rect">
            <a:avLst/>
          </a:prstGeom>
          <a:noFill/>
        </p:spPr>
        <p:txBody>
          <a:bodyPr wrap="none" lIns="0" tIns="0" rIns="0" bIns="0" rtlCol="0" anchor="t"/>
          <a:lstStyle/>
          <a:p>
            <a:pPr marL="0" indent="0" algn="ctr">
              <a:lnSpc>
                <a:spcPts val="2450"/>
              </a:lnSpc>
              <a:buNone/>
            </a:pPr>
            <a:r>
              <a:rPr lang="en-US" sz="2450" dirty="0">
                <a:solidFill>
                  <a:srgbClr val="61615C"/>
                </a:solidFill>
                <a:latin typeface="Tomorrow Semi Bold" charset="0"/>
                <a:ea typeface="Tomorrow Semi Bold" pitchFamily="34" charset="-122"/>
                <a:cs typeface="Tomorrow Semi Bold" pitchFamily="34" charset="-120"/>
              </a:rPr>
              <a:t>3</a:t>
            </a:r>
            <a:endParaRPr lang="en-US" sz="2450" dirty="0"/>
          </a:p>
        </p:txBody>
      </p:sp>
      <p:sp>
        <p:nvSpPr>
          <p:cNvPr id="18" name="Text 15"/>
          <p:cNvSpPr/>
          <p:nvPr/>
        </p:nvSpPr>
        <p:spPr>
          <a:xfrm>
            <a:off x="7705487" y="6303407"/>
            <a:ext cx="3541633" cy="330160"/>
          </a:xfrm>
          <a:prstGeom prst="rect">
            <a:avLst/>
          </a:prstGeom>
          <a:noFill/>
        </p:spPr>
        <p:txBody>
          <a:bodyPr wrap="none" lIns="0" tIns="0" rIns="0" bIns="0" rtlCol="0" anchor="t"/>
          <a:lstStyle/>
          <a:p>
            <a:pPr marL="0" indent="0" algn="l">
              <a:lnSpc>
                <a:spcPts val="2600"/>
              </a:lnSpc>
              <a:buNone/>
            </a:pPr>
            <a:r>
              <a:rPr lang="en-US" sz="2050" dirty="0">
                <a:solidFill>
                  <a:srgbClr val="61615C"/>
                </a:solidFill>
                <a:latin typeface="Tomorrow Semi Bold" charset="0"/>
                <a:ea typeface="Tomorrow Semi Bold" pitchFamily="34" charset="-122"/>
                <a:cs typeface="Tomorrow Semi Bold" pitchFamily="34" charset="-120"/>
              </a:rPr>
              <a:t>Performance Optimization</a:t>
            </a:r>
            <a:endParaRPr lang="en-US" sz="2050" dirty="0"/>
          </a:p>
        </p:txBody>
      </p:sp>
      <p:sp>
        <p:nvSpPr>
          <p:cNvPr id="19" name="Text 16"/>
          <p:cNvSpPr/>
          <p:nvPr/>
        </p:nvSpPr>
        <p:spPr>
          <a:xfrm>
            <a:off x="7705487" y="6760369"/>
            <a:ext cx="6185178" cy="676275"/>
          </a:xfrm>
          <a:prstGeom prst="rect">
            <a:avLst/>
          </a:prstGeom>
          <a:noFill/>
        </p:spPr>
        <p:txBody>
          <a:bodyPr wrap="square" lIns="0" tIns="0" rIns="0" bIns="0" rtlCol="0" anchor="t"/>
          <a:lstStyle/>
          <a:p>
            <a:pPr marL="0" indent="0" algn="l">
              <a:lnSpc>
                <a:spcPts val="2650"/>
              </a:lnSpc>
              <a:buNone/>
            </a:pPr>
            <a:r>
              <a:rPr lang="en-US" sz="1650" dirty="0">
                <a:solidFill>
                  <a:srgbClr val="61615C"/>
                </a:solidFill>
                <a:latin typeface="Tomorrow" pitchFamily="34" charset="0"/>
                <a:ea typeface="Tomorrow" pitchFamily="34" charset="-122"/>
                <a:cs typeface="Tomorrow" pitchFamily="34" charset="-120"/>
              </a:rPr>
              <a:t>Implement techniques to enhance the efficiency, scalability, and robustness of the RL system.</a:t>
            </a:r>
            <a:endParaRPr lang="en-US" sz="1650" dirty="0"/>
          </a:p>
        </p:txBody>
      </p:sp>
      <p:sp>
        <p:nvSpPr>
          <p:cNvPr id="20" name="Rectangles 19"/>
          <p:cNvSpPr/>
          <p:nvPr/>
        </p:nvSpPr>
        <p:spPr>
          <a:xfrm>
            <a:off x="12146915" y="7647940"/>
            <a:ext cx="2482850" cy="70294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11091"/>
            <a:ext cx="7556421" cy="1417558"/>
          </a:xfrm>
          <a:prstGeom prst="rect">
            <a:avLst/>
          </a:prstGeom>
          <a:noFill/>
        </p:spPr>
        <p:txBody>
          <a:bodyPr wrap="square" lIns="0" tIns="0" rIns="0" bIns="0" rtlCol="0" anchor="t"/>
          <a:lstStyle/>
          <a:p>
            <a:pPr marL="0" indent="0">
              <a:lnSpc>
                <a:spcPts val="5550"/>
              </a:lnSpc>
              <a:buNone/>
            </a:pPr>
            <a:r>
              <a:rPr lang="en-US" sz="4450" dirty="0">
                <a:solidFill>
                  <a:srgbClr val="1D1D1B"/>
                </a:solidFill>
                <a:latin typeface="Tomorrow Semi Bold" charset="0"/>
                <a:ea typeface="Tomorrow Semi Bold" pitchFamily="34" charset="-122"/>
                <a:cs typeface="Tomorrow Semi Bold" pitchFamily="34" charset="-120"/>
              </a:rPr>
              <a:t>System Requirements: Laying the Foundation</a:t>
            </a:r>
            <a:endParaRPr lang="en-US" sz="4450" dirty="0"/>
          </a:p>
        </p:txBody>
      </p:sp>
      <p:sp>
        <p:nvSpPr>
          <p:cNvPr id="4" name="Shape 1"/>
          <p:cNvSpPr/>
          <p:nvPr/>
        </p:nvSpPr>
        <p:spPr>
          <a:xfrm>
            <a:off x="6280190" y="3123962"/>
            <a:ext cx="510302" cy="510302"/>
          </a:xfrm>
          <a:prstGeom prst="roundRect">
            <a:avLst>
              <a:gd name="adj" fmla="val 6667"/>
            </a:avLst>
          </a:prstGeom>
          <a:solidFill>
            <a:srgbClr val="F0EAEA"/>
          </a:solidFill>
        </p:spPr>
      </p:sp>
      <p:sp>
        <p:nvSpPr>
          <p:cNvPr id="5" name="Text 2"/>
          <p:cNvSpPr/>
          <p:nvPr/>
        </p:nvSpPr>
        <p:spPr>
          <a:xfrm>
            <a:off x="6457950" y="3208973"/>
            <a:ext cx="154781" cy="340281"/>
          </a:xfrm>
          <a:prstGeom prst="rect">
            <a:avLst/>
          </a:prstGeom>
          <a:noFill/>
        </p:spPr>
        <p:txBody>
          <a:bodyPr wrap="none" lIns="0" tIns="0" rIns="0" bIns="0" rtlCol="0" anchor="t"/>
          <a:lstStyle/>
          <a:p>
            <a:pPr marL="0" indent="0" algn="ctr">
              <a:lnSpc>
                <a:spcPts val="2650"/>
              </a:lnSpc>
              <a:buNone/>
            </a:pPr>
            <a:r>
              <a:rPr lang="en-US" sz="2650" dirty="0">
                <a:solidFill>
                  <a:srgbClr val="61615C"/>
                </a:solidFill>
                <a:latin typeface="Tomorrow Semi Bold" charset="0"/>
                <a:ea typeface="Tomorrow Semi Bold" pitchFamily="34" charset="-122"/>
                <a:cs typeface="Tomorrow Semi Bold" pitchFamily="34" charset="-120"/>
              </a:rPr>
              <a:t>1</a:t>
            </a:r>
            <a:endParaRPr lang="en-US" sz="2650" dirty="0"/>
          </a:p>
        </p:txBody>
      </p:sp>
      <p:sp>
        <p:nvSpPr>
          <p:cNvPr id="6" name="Text 3"/>
          <p:cNvSpPr/>
          <p:nvPr/>
        </p:nvSpPr>
        <p:spPr>
          <a:xfrm>
            <a:off x="7017306" y="3123962"/>
            <a:ext cx="2927747" cy="708660"/>
          </a:xfrm>
          <a:prstGeom prst="rect">
            <a:avLst/>
          </a:prstGeom>
          <a:noFill/>
        </p:spPr>
        <p:txBody>
          <a:bodyPr wrap="square" lIns="0" tIns="0" rIns="0" bIns="0" rtlCol="0" anchor="t"/>
          <a:lstStyle/>
          <a:p>
            <a:pPr marL="0" indent="0">
              <a:lnSpc>
                <a:spcPts val="2750"/>
              </a:lnSpc>
              <a:buNone/>
            </a:pPr>
            <a:r>
              <a:rPr lang="en-US" sz="2200" dirty="0">
                <a:solidFill>
                  <a:srgbClr val="61615C"/>
                </a:solidFill>
                <a:latin typeface="Tomorrow Semi Bold" charset="0"/>
                <a:ea typeface="Tomorrow Semi Bold" pitchFamily="34" charset="-122"/>
                <a:cs typeface="Tomorrow Semi Bold" pitchFamily="34" charset="-120"/>
              </a:rPr>
              <a:t>Computational Power</a:t>
            </a:r>
            <a:endParaRPr lang="en-US" sz="2200" dirty="0"/>
          </a:p>
        </p:txBody>
      </p:sp>
      <p:sp>
        <p:nvSpPr>
          <p:cNvPr id="7" name="Text 4"/>
          <p:cNvSpPr/>
          <p:nvPr/>
        </p:nvSpPr>
        <p:spPr>
          <a:xfrm>
            <a:off x="7017306" y="3968710"/>
            <a:ext cx="2927747" cy="1451610"/>
          </a:xfrm>
          <a:prstGeom prst="rect">
            <a:avLst/>
          </a:prstGeom>
          <a:noFill/>
        </p:spPr>
        <p:txBody>
          <a:bodyPr wrap="square" lIns="0" tIns="0" rIns="0" bIns="0" rtlCol="0" anchor="t"/>
          <a:lstStyle/>
          <a:p>
            <a:pPr marL="0" indent="0">
              <a:lnSpc>
                <a:spcPts val="2850"/>
              </a:lnSpc>
              <a:buNone/>
            </a:pPr>
            <a:r>
              <a:rPr lang="en-US" sz="1750" dirty="0">
                <a:solidFill>
                  <a:srgbClr val="61615C"/>
                </a:solidFill>
                <a:latin typeface="Tomorrow" pitchFamily="34" charset="0"/>
                <a:ea typeface="Tomorrow" pitchFamily="34" charset="-122"/>
                <a:cs typeface="Tomorrow" pitchFamily="34" charset="-120"/>
              </a:rPr>
              <a:t>Powerful hardware and infrastructure to handle the computational demands of RL algorithms.</a:t>
            </a:r>
            <a:endParaRPr lang="en-US" sz="1750" dirty="0"/>
          </a:p>
        </p:txBody>
      </p:sp>
      <p:sp>
        <p:nvSpPr>
          <p:cNvPr id="8" name="Shape 5"/>
          <p:cNvSpPr/>
          <p:nvPr/>
        </p:nvSpPr>
        <p:spPr>
          <a:xfrm>
            <a:off x="10171867" y="3123962"/>
            <a:ext cx="510302" cy="510302"/>
          </a:xfrm>
          <a:prstGeom prst="roundRect">
            <a:avLst>
              <a:gd name="adj" fmla="val 6667"/>
            </a:avLst>
          </a:prstGeom>
          <a:solidFill>
            <a:srgbClr val="F0EAEA"/>
          </a:solidFill>
        </p:spPr>
      </p:sp>
      <p:sp>
        <p:nvSpPr>
          <p:cNvPr id="9" name="Text 6"/>
          <p:cNvSpPr/>
          <p:nvPr/>
        </p:nvSpPr>
        <p:spPr>
          <a:xfrm>
            <a:off x="10312718" y="3208973"/>
            <a:ext cx="228600" cy="340281"/>
          </a:xfrm>
          <a:prstGeom prst="rect">
            <a:avLst/>
          </a:prstGeom>
          <a:noFill/>
        </p:spPr>
        <p:txBody>
          <a:bodyPr wrap="none" lIns="0" tIns="0" rIns="0" bIns="0" rtlCol="0" anchor="t"/>
          <a:lstStyle/>
          <a:p>
            <a:pPr marL="0" indent="0" algn="ctr">
              <a:lnSpc>
                <a:spcPts val="2650"/>
              </a:lnSpc>
              <a:buNone/>
            </a:pPr>
            <a:r>
              <a:rPr lang="en-US" sz="2650" dirty="0">
                <a:solidFill>
                  <a:srgbClr val="61615C"/>
                </a:solidFill>
                <a:latin typeface="Tomorrow Semi Bold" charset="0"/>
                <a:ea typeface="Tomorrow Semi Bold" pitchFamily="34" charset="-122"/>
                <a:cs typeface="Tomorrow Semi Bold" pitchFamily="34" charset="-120"/>
              </a:rPr>
              <a:t>2</a:t>
            </a:r>
            <a:endParaRPr lang="en-US" sz="2650" dirty="0"/>
          </a:p>
        </p:txBody>
      </p:sp>
      <p:sp>
        <p:nvSpPr>
          <p:cNvPr id="10" name="Text 7"/>
          <p:cNvSpPr/>
          <p:nvPr/>
        </p:nvSpPr>
        <p:spPr>
          <a:xfrm>
            <a:off x="10908983" y="3123962"/>
            <a:ext cx="2835235" cy="354330"/>
          </a:xfrm>
          <a:prstGeom prst="rect">
            <a:avLst/>
          </a:prstGeom>
          <a:noFill/>
        </p:spPr>
        <p:txBody>
          <a:bodyPr wrap="none" lIns="0" tIns="0" rIns="0" bIns="0" rtlCol="0" anchor="t"/>
          <a:lstStyle/>
          <a:p>
            <a:pPr marL="0" indent="0">
              <a:lnSpc>
                <a:spcPts val="2750"/>
              </a:lnSpc>
              <a:buNone/>
            </a:pPr>
            <a:r>
              <a:rPr lang="en-US" sz="2200" dirty="0">
                <a:solidFill>
                  <a:srgbClr val="61615C"/>
                </a:solidFill>
                <a:latin typeface="Tomorrow Semi Bold" charset="0"/>
                <a:ea typeface="Tomorrow Semi Bold" pitchFamily="34" charset="-122"/>
                <a:cs typeface="Tomorrow Semi Bold" pitchFamily="34" charset="-120"/>
              </a:rPr>
              <a:t>Data Management</a:t>
            </a:r>
            <a:endParaRPr lang="en-US" sz="2200" dirty="0"/>
          </a:p>
        </p:txBody>
      </p:sp>
      <p:sp>
        <p:nvSpPr>
          <p:cNvPr id="11" name="Text 8"/>
          <p:cNvSpPr/>
          <p:nvPr/>
        </p:nvSpPr>
        <p:spPr>
          <a:xfrm>
            <a:off x="10908983" y="3614380"/>
            <a:ext cx="2927747" cy="1451610"/>
          </a:xfrm>
          <a:prstGeom prst="rect">
            <a:avLst/>
          </a:prstGeom>
          <a:noFill/>
        </p:spPr>
        <p:txBody>
          <a:bodyPr wrap="square" lIns="0" tIns="0" rIns="0" bIns="0" rtlCol="0" anchor="t"/>
          <a:lstStyle/>
          <a:p>
            <a:pPr marL="0" indent="0">
              <a:lnSpc>
                <a:spcPts val="2850"/>
              </a:lnSpc>
              <a:buNone/>
            </a:pPr>
            <a:r>
              <a:rPr lang="en-US" sz="1750" dirty="0">
                <a:solidFill>
                  <a:srgbClr val="61615C"/>
                </a:solidFill>
                <a:latin typeface="Tomorrow" pitchFamily="34" charset="0"/>
                <a:ea typeface="Tomorrow" pitchFamily="34" charset="-122"/>
                <a:cs typeface="Tomorrow" pitchFamily="34" charset="-120"/>
              </a:rPr>
              <a:t>Efficient data storage, retrieval, and preprocessing to support the RL training process.</a:t>
            </a:r>
            <a:endParaRPr lang="en-US" sz="1750" dirty="0"/>
          </a:p>
        </p:txBody>
      </p:sp>
      <p:sp>
        <p:nvSpPr>
          <p:cNvPr id="12" name="Shape 9"/>
          <p:cNvSpPr/>
          <p:nvPr/>
        </p:nvSpPr>
        <p:spPr>
          <a:xfrm>
            <a:off x="6280190" y="5902285"/>
            <a:ext cx="510302" cy="510302"/>
          </a:xfrm>
          <a:prstGeom prst="roundRect">
            <a:avLst>
              <a:gd name="adj" fmla="val 6667"/>
            </a:avLst>
          </a:prstGeom>
          <a:solidFill>
            <a:srgbClr val="F0EAEA"/>
          </a:solidFill>
        </p:spPr>
      </p:sp>
      <p:sp>
        <p:nvSpPr>
          <p:cNvPr id="13" name="Text 10"/>
          <p:cNvSpPr/>
          <p:nvPr/>
        </p:nvSpPr>
        <p:spPr>
          <a:xfrm>
            <a:off x="6421636" y="5987296"/>
            <a:ext cx="227290" cy="340281"/>
          </a:xfrm>
          <a:prstGeom prst="rect">
            <a:avLst/>
          </a:prstGeom>
          <a:noFill/>
        </p:spPr>
        <p:txBody>
          <a:bodyPr wrap="none" lIns="0" tIns="0" rIns="0" bIns="0" rtlCol="0" anchor="t"/>
          <a:lstStyle/>
          <a:p>
            <a:pPr marL="0" indent="0" algn="ctr">
              <a:lnSpc>
                <a:spcPts val="2650"/>
              </a:lnSpc>
              <a:buNone/>
            </a:pPr>
            <a:r>
              <a:rPr lang="en-US" sz="2650" dirty="0">
                <a:solidFill>
                  <a:srgbClr val="61615C"/>
                </a:solidFill>
                <a:latin typeface="Tomorrow Semi Bold" charset="0"/>
                <a:ea typeface="Tomorrow Semi Bold" pitchFamily="34" charset="-122"/>
                <a:cs typeface="Tomorrow Semi Bold" pitchFamily="34" charset="-120"/>
              </a:rPr>
              <a:t>3</a:t>
            </a:r>
            <a:endParaRPr lang="en-US" sz="2650" dirty="0"/>
          </a:p>
        </p:txBody>
      </p:sp>
      <p:sp>
        <p:nvSpPr>
          <p:cNvPr id="14" name="Text 11"/>
          <p:cNvSpPr/>
          <p:nvPr/>
        </p:nvSpPr>
        <p:spPr>
          <a:xfrm>
            <a:off x="7017306" y="5902285"/>
            <a:ext cx="3913108" cy="354330"/>
          </a:xfrm>
          <a:prstGeom prst="rect">
            <a:avLst/>
          </a:prstGeom>
          <a:noFill/>
        </p:spPr>
        <p:txBody>
          <a:bodyPr wrap="none" lIns="0" tIns="0" rIns="0" bIns="0" rtlCol="0" anchor="t"/>
          <a:lstStyle/>
          <a:p>
            <a:pPr marL="0" indent="0">
              <a:lnSpc>
                <a:spcPts val="2750"/>
              </a:lnSpc>
              <a:buNone/>
            </a:pPr>
            <a:r>
              <a:rPr lang="en-US" sz="2200" dirty="0">
                <a:solidFill>
                  <a:srgbClr val="61615C"/>
                </a:solidFill>
                <a:latin typeface="Tomorrow Semi Bold" charset="0"/>
                <a:ea typeface="Tomorrow Semi Bold" pitchFamily="34" charset="-122"/>
                <a:cs typeface="Tomorrow Semi Bold" pitchFamily="34" charset="-120"/>
              </a:rPr>
              <a:t>Real-Time Responsiveness</a:t>
            </a:r>
            <a:endParaRPr lang="en-US" sz="2200" dirty="0"/>
          </a:p>
        </p:txBody>
      </p:sp>
      <p:sp>
        <p:nvSpPr>
          <p:cNvPr id="15" name="Text 12"/>
          <p:cNvSpPr/>
          <p:nvPr/>
        </p:nvSpPr>
        <p:spPr>
          <a:xfrm>
            <a:off x="7017306" y="6392704"/>
            <a:ext cx="6819305" cy="725805"/>
          </a:xfrm>
          <a:prstGeom prst="rect">
            <a:avLst/>
          </a:prstGeom>
          <a:noFill/>
        </p:spPr>
        <p:txBody>
          <a:bodyPr wrap="square" lIns="0" tIns="0" rIns="0" bIns="0" rtlCol="0" anchor="t"/>
          <a:lstStyle/>
          <a:p>
            <a:pPr marL="0" indent="0">
              <a:lnSpc>
                <a:spcPts val="2850"/>
              </a:lnSpc>
              <a:buNone/>
            </a:pPr>
            <a:r>
              <a:rPr lang="en-US" sz="1750" dirty="0">
                <a:solidFill>
                  <a:srgbClr val="61615C"/>
                </a:solidFill>
                <a:latin typeface="Tomorrow" pitchFamily="34" charset="0"/>
                <a:ea typeface="Tomorrow" pitchFamily="34" charset="-122"/>
                <a:cs typeface="Tomorrow" pitchFamily="34" charset="-120"/>
              </a:rPr>
              <a:t>Low-latency processing to enable the RL agent to make timely decisions in dynamic environments.</a:t>
            </a:r>
            <a:endParaRPr lang="en-US" sz="1750" dirty="0"/>
          </a:p>
        </p:txBody>
      </p:sp>
      <p:sp>
        <p:nvSpPr>
          <p:cNvPr id="16" name="Rectangles 15"/>
          <p:cNvSpPr/>
          <p:nvPr/>
        </p:nvSpPr>
        <p:spPr>
          <a:xfrm>
            <a:off x="12833985" y="7762240"/>
            <a:ext cx="1897380" cy="4673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681407"/>
          </a:xfrm>
          <a:prstGeom prst="rect">
            <a:avLst/>
          </a:prstGeom>
        </p:spPr>
      </p:pic>
      <p:sp>
        <p:nvSpPr>
          <p:cNvPr id="3" name="Text 0"/>
          <p:cNvSpPr/>
          <p:nvPr/>
        </p:nvSpPr>
        <p:spPr>
          <a:xfrm>
            <a:off x="750689" y="3273028"/>
            <a:ext cx="11148536" cy="670322"/>
          </a:xfrm>
          <a:prstGeom prst="rect">
            <a:avLst/>
          </a:prstGeom>
          <a:noFill/>
        </p:spPr>
        <p:txBody>
          <a:bodyPr wrap="none" lIns="0" tIns="0" rIns="0" bIns="0" rtlCol="0" anchor="t"/>
          <a:lstStyle/>
          <a:p>
            <a:pPr marL="0" indent="0">
              <a:lnSpc>
                <a:spcPts val="5250"/>
              </a:lnSpc>
              <a:buNone/>
            </a:pPr>
            <a:r>
              <a:rPr lang="en-US" sz="4200" dirty="0">
                <a:solidFill>
                  <a:srgbClr val="1D1D1B"/>
                </a:solidFill>
                <a:latin typeface="Tomorrow Semi Bold" charset="0"/>
                <a:ea typeface="Tomorrow Semi Bold" pitchFamily="34" charset="-122"/>
                <a:cs typeface="Tomorrow Semi Bold" pitchFamily="34" charset="-120"/>
              </a:rPr>
              <a:t>Existing Systems: Learning from the Past</a:t>
            </a:r>
            <a:endParaRPr lang="en-US" sz="4200" dirty="0"/>
          </a:p>
        </p:txBody>
      </p:sp>
      <p:sp>
        <p:nvSpPr>
          <p:cNvPr id="4" name="Shape 1"/>
          <p:cNvSpPr/>
          <p:nvPr/>
        </p:nvSpPr>
        <p:spPr>
          <a:xfrm>
            <a:off x="750689" y="4265057"/>
            <a:ext cx="6457355" cy="1579245"/>
          </a:xfrm>
          <a:prstGeom prst="roundRect">
            <a:avLst>
              <a:gd name="adj" fmla="val 2037"/>
            </a:avLst>
          </a:prstGeom>
          <a:solidFill>
            <a:srgbClr val="F0EAEA"/>
          </a:solidFill>
        </p:spPr>
      </p:sp>
      <p:sp>
        <p:nvSpPr>
          <p:cNvPr id="5" name="Text 2"/>
          <p:cNvSpPr/>
          <p:nvPr/>
        </p:nvSpPr>
        <p:spPr>
          <a:xfrm>
            <a:off x="965121" y="4479488"/>
            <a:ext cx="2681407" cy="335161"/>
          </a:xfrm>
          <a:prstGeom prst="rect">
            <a:avLst/>
          </a:prstGeom>
          <a:noFill/>
        </p:spPr>
        <p:txBody>
          <a:bodyPr wrap="none" lIns="0" tIns="0" rIns="0" bIns="0" rtlCol="0" anchor="t"/>
          <a:lstStyle/>
          <a:p>
            <a:pPr marL="0" indent="0">
              <a:lnSpc>
                <a:spcPts val="2600"/>
              </a:lnSpc>
              <a:buNone/>
            </a:pPr>
            <a:r>
              <a:rPr lang="en-US" sz="2100" dirty="0">
                <a:solidFill>
                  <a:srgbClr val="61615C"/>
                </a:solidFill>
                <a:latin typeface="Tomorrow Semi Bold" charset="0"/>
                <a:ea typeface="Tomorrow Semi Bold" pitchFamily="34" charset="-122"/>
                <a:cs typeface="Tomorrow Semi Bold" pitchFamily="34" charset="-120"/>
              </a:rPr>
              <a:t>Model-Based RL</a:t>
            </a:r>
            <a:endParaRPr lang="en-US" sz="2100" dirty="0"/>
          </a:p>
        </p:txBody>
      </p:sp>
      <p:sp>
        <p:nvSpPr>
          <p:cNvPr id="6" name="Text 3"/>
          <p:cNvSpPr/>
          <p:nvPr/>
        </p:nvSpPr>
        <p:spPr>
          <a:xfrm>
            <a:off x="965121" y="4943356"/>
            <a:ext cx="6028492" cy="686514"/>
          </a:xfrm>
          <a:prstGeom prst="rect">
            <a:avLst/>
          </a:prstGeom>
          <a:noFill/>
        </p:spPr>
        <p:txBody>
          <a:bodyPr wrap="square" lIns="0" tIns="0" rIns="0" bIns="0" rtlCol="0" anchor="t"/>
          <a:lstStyle/>
          <a:p>
            <a:pPr marL="0" indent="0">
              <a:lnSpc>
                <a:spcPts val="2700"/>
              </a:lnSpc>
              <a:buNone/>
            </a:pPr>
            <a:r>
              <a:rPr lang="en-US" sz="1650" dirty="0">
                <a:solidFill>
                  <a:srgbClr val="61615C"/>
                </a:solidFill>
                <a:latin typeface="Tomorrow" pitchFamily="34" charset="0"/>
                <a:ea typeface="Tomorrow" pitchFamily="34" charset="-122"/>
                <a:cs typeface="Tomorrow" pitchFamily="34" charset="-120"/>
              </a:rPr>
              <a:t>Systems that learn a model of the environment to plan and make decisions.</a:t>
            </a:r>
            <a:endParaRPr lang="en-US" sz="1650" dirty="0"/>
          </a:p>
        </p:txBody>
      </p:sp>
      <p:sp>
        <p:nvSpPr>
          <p:cNvPr id="7" name="Shape 4"/>
          <p:cNvSpPr/>
          <p:nvPr/>
        </p:nvSpPr>
        <p:spPr>
          <a:xfrm>
            <a:off x="7422475" y="4265057"/>
            <a:ext cx="6457355" cy="1579245"/>
          </a:xfrm>
          <a:prstGeom prst="roundRect">
            <a:avLst>
              <a:gd name="adj" fmla="val 2037"/>
            </a:avLst>
          </a:prstGeom>
          <a:solidFill>
            <a:srgbClr val="F0EAEA"/>
          </a:solidFill>
        </p:spPr>
      </p:sp>
      <p:sp>
        <p:nvSpPr>
          <p:cNvPr id="8" name="Text 5"/>
          <p:cNvSpPr/>
          <p:nvPr/>
        </p:nvSpPr>
        <p:spPr>
          <a:xfrm>
            <a:off x="7636907" y="4479488"/>
            <a:ext cx="2681407" cy="335161"/>
          </a:xfrm>
          <a:prstGeom prst="rect">
            <a:avLst/>
          </a:prstGeom>
          <a:noFill/>
        </p:spPr>
        <p:txBody>
          <a:bodyPr wrap="none" lIns="0" tIns="0" rIns="0" bIns="0" rtlCol="0" anchor="t"/>
          <a:lstStyle/>
          <a:p>
            <a:pPr marL="0" indent="0">
              <a:lnSpc>
                <a:spcPts val="2600"/>
              </a:lnSpc>
              <a:buNone/>
            </a:pPr>
            <a:r>
              <a:rPr lang="en-US" sz="2100" dirty="0">
                <a:solidFill>
                  <a:srgbClr val="61615C"/>
                </a:solidFill>
                <a:latin typeface="Tomorrow Semi Bold" charset="0"/>
                <a:ea typeface="Tomorrow Semi Bold" pitchFamily="34" charset="-122"/>
                <a:cs typeface="Tomorrow Semi Bold" pitchFamily="34" charset="-120"/>
              </a:rPr>
              <a:t>Value-Based RL</a:t>
            </a:r>
            <a:endParaRPr lang="en-US" sz="2100" dirty="0"/>
          </a:p>
        </p:txBody>
      </p:sp>
      <p:sp>
        <p:nvSpPr>
          <p:cNvPr id="9" name="Text 6"/>
          <p:cNvSpPr/>
          <p:nvPr/>
        </p:nvSpPr>
        <p:spPr>
          <a:xfrm>
            <a:off x="7636907" y="4943356"/>
            <a:ext cx="6028492" cy="686514"/>
          </a:xfrm>
          <a:prstGeom prst="rect">
            <a:avLst/>
          </a:prstGeom>
          <a:noFill/>
        </p:spPr>
        <p:txBody>
          <a:bodyPr wrap="square" lIns="0" tIns="0" rIns="0" bIns="0" rtlCol="0" anchor="t"/>
          <a:lstStyle/>
          <a:p>
            <a:pPr marL="0" indent="0">
              <a:lnSpc>
                <a:spcPts val="2700"/>
              </a:lnSpc>
              <a:buNone/>
            </a:pPr>
            <a:r>
              <a:rPr lang="en-US" sz="1650" dirty="0">
                <a:solidFill>
                  <a:srgbClr val="61615C"/>
                </a:solidFill>
                <a:latin typeface="Tomorrow" pitchFamily="34" charset="0"/>
                <a:ea typeface="Tomorrow" pitchFamily="34" charset="-122"/>
                <a:cs typeface="Tomorrow" pitchFamily="34" charset="-120"/>
              </a:rPr>
              <a:t>Methods that estimate the expected future rewards for each action and select the optimal one.</a:t>
            </a:r>
            <a:endParaRPr lang="en-US" sz="1650" dirty="0"/>
          </a:p>
        </p:txBody>
      </p:sp>
      <p:sp>
        <p:nvSpPr>
          <p:cNvPr id="10" name="Shape 7"/>
          <p:cNvSpPr/>
          <p:nvPr/>
        </p:nvSpPr>
        <p:spPr>
          <a:xfrm>
            <a:off x="750689" y="6058733"/>
            <a:ext cx="6457355" cy="1579245"/>
          </a:xfrm>
          <a:prstGeom prst="roundRect">
            <a:avLst>
              <a:gd name="adj" fmla="val 2037"/>
            </a:avLst>
          </a:prstGeom>
          <a:solidFill>
            <a:srgbClr val="F0EAEA"/>
          </a:solidFill>
        </p:spPr>
      </p:sp>
      <p:sp>
        <p:nvSpPr>
          <p:cNvPr id="11" name="Text 8"/>
          <p:cNvSpPr/>
          <p:nvPr/>
        </p:nvSpPr>
        <p:spPr>
          <a:xfrm>
            <a:off x="965121" y="6273165"/>
            <a:ext cx="2681407" cy="335161"/>
          </a:xfrm>
          <a:prstGeom prst="rect">
            <a:avLst/>
          </a:prstGeom>
          <a:noFill/>
        </p:spPr>
        <p:txBody>
          <a:bodyPr wrap="none" lIns="0" tIns="0" rIns="0" bIns="0" rtlCol="0" anchor="t"/>
          <a:lstStyle/>
          <a:p>
            <a:pPr marL="0" indent="0">
              <a:lnSpc>
                <a:spcPts val="2600"/>
              </a:lnSpc>
              <a:buNone/>
            </a:pPr>
            <a:r>
              <a:rPr lang="en-US" sz="2100" dirty="0">
                <a:solidFill>
                  <a:srgbClr val="61615C"/>
                </a:solidFill>
                <a:latin typeface="Tomorrow Semi Bold" charset="0"/>
                <a:ea typeface="Tomorrow Semi Bold" pitchFamily="34" charset="-122"/>
                <a:cs typeface="Tomorrow Semi Bold" pitchFamily="34" charset="-120"/>
              </a:rPr>
              <a:t>Policy-Based RL</a:t>
            </a:r>
            <a:endParaRPr lang="en-US" sz="2100" dirty="0"/>
          </a:p>
        </p:txBody>
      </p:sp>
      <p:sp>
        <p:nvSpPr>
          <p:cNvPr id="12" name="Text 9"/>
          <p:cNvSpPr/>
          <p:nvPr/>
        </p:nvSpPr>
        <p:spPr>
          <a:xfrm>
            <a:off x="965121" y="6737033"/>
            <a:ext cx="6028492" cy="686514"/>
          </a:xfrm>
          <a:prstGeom prst="rect">
            <a:avLst/>
          </a:prstGeom>
          <a:noFill/>
        </p:spPr>
        <p:txBody>
          <a:bodyPr wrap="square" lIns="0" tIns="0" rIns="0" bIns="0" rtlCol="0" anchor="t"/>
          <a:lstStyle/>
          <a:p>
            <a:pPr marL="0" indent="0">
              <a:lnSpc>
                <a:spcPts val="2700"/>
              </a:lnSpc>
              <a:buNone/>
            </a:pPr>
            <a:r>
              <a:rPr lang="en-US" sz="1650" dirty="0">
                <a:solidFill>
                  <a:srgbClr val="61615C"/>
                </a:solidFill>
                <a:latin typeface="Tomorrow" pitchFamily="34" charset="0"/>
                <a:ea typeface="Tomorrow" pitchFamily="34" charset="-122"/>
                <a:cs typeface="Tomorrow" pitchFamily="34" charset="-120"/>
              </a:rPr>
              <a:t>Approaches that directly learn a mapping from states to actions to maximize rewards.</a:t>
            </a:r>
            <a:endParaRPr lang="en-US" sz="1650" dirty="0"/>
          </a:p>
        </p:txBody>
      </p:sp>
      <p:sp>
        <p:nvSpPr>
          <p:cNvPr id="13" name="Shape 10"/>
          <p:cNvSpPr/>
          <p:nvPr/>
        </p:nvSpPr>
        <p:spPr>
          <a:xfrm>
            <a:off x="7422475" y="6058733"/>
            <a:ext cx="6457355" cy="1579245"/>
          </a:xfrm>
          <a:prstGeom prst="roundRect">
            <a:avLst>
              <a:gd name="adj" fmla="val 2037"/>
            </a:avLst>
          </a:prstGeom>
          <a:solidFill>
            <a:srgbClr val="F0EAEA"/>
          </a:solidFill>
        </p:spPr>
      </p:sp>
      <p:sp>
        <p:nvSpPr>
          <p:cNvPr id="14" name="Text 11"/>
          <p:cNvSpPr/>
          <p:nvPr/>
        </p:nvSpPr>
        <p:spPr>
          <a:xfrm>
            <a:off x="7636907" y="6273165"/>
            <a:ext cx="2815233" cy="335161"/>
          </a:xfrm>
          <a:prstGeom prst="rect">
            <a:avLst/>
          </a:prstGeom>
          <a:noFill/>
        </p:spPr>
        <p:txBody>
          <a:bodyPr wrap="none" lIns="0" tIns="0" rIns="0" bIns="0" rtlCol="0" anchor="t"/>
          <a:lstStyle/>
          <a:p>
            <a:pPr marL="0" indent="0">
              <a:lnSpc>
                <a:spcPts val="2600"/>
              </a:lnSpc>
              <a:buNone/>
            </a:pPr>
            <a:r>
              <a:rPr lang="en-US" sz="2100" dirty="0">
                <a:solidFill>
                  <a:srgbClr val="61615C"/>
                </a:solidFill>
                <a:latin typeface="Tomorrow Semi Bold" charset="0"/>
                <a:ea typeface="Tomorrow Semi Bold" pitchFamily="34" charset="-122"/>
                <a:cs typeface="Tomorrow Semi Bold" pitchFamily="34" charset="-120"/>
              </a:rPr>
              <a:t>Hybrid Architectures</a:t>
            </a:r>
            <a:endParaRPr lang="en-US" sz="2100" dirty="0"/>
          </a:p>
        </p:txBody>
      </p:sp>
      <p:sp>
        <p:nvSpPr>
          <p:cNvPr id="15" name="Text 12"/>
          <p:cNvSpPr/>
          <p:nvPr/>
        </p:nvSpPr>
        <p:spPr>
          <a:xfrm>
            <a:off x="7636907" y="6737033"/>
            <a:ext cx="6028492" cy="686514"/>
          </a:xfrm>
          <a:prstGeom prst="rect">
            <a:avLst/>
          </a:prstGeom>
          <a:noFill/>
        </p:spPr>
        <p:txBody>
          <a:bodyPr wrap="square" lIns="0" tIns="0" rIns="0" bIns="0" rtlCol="0" anchor="t"/>
          <a:lstStyle/>
          <a:p>
            <a:pPr marL="0" indent="0">
              <a:lnSpc>
                <a:spcPts val="2700"/>
              </a:lnSpc>
              <a:buNone/>
            </a:pPr>
            <a:r>
              <a:rPr lang="en-US" sz="1650" dirty="0">
                <a:solidFill>
                  <a:srgbClr val="61615C"/>
                </a:solidFill>
                <a:latin typeface="Tomorrow" pitchFamily="34" charset="0"/>
                <a:ea typeface="Tomorrow" pitchFamily="34" charset="-122"/>
                <a:cs typeface="Tomorrow" pitchFamily="34" charset="-120"/>
              </a:rPr>
              <a:t>Combining multiple RL techniques to leverage their respective strengths.</a:t>
            </a:r>
            <a:endParaRPr lang="en-US" sz="1650" dirty="0"/>
          </a:p>
        </p:txBody>
      </p:sp>
      <p:sp>
        <p:nvSpPr>
          <p:cNvPr id="16" name="Rectangles 15"/>
          <p:cNvSpPr/>
          <p:nvPr/>
        </p:nvSpPr>
        <p:spPr>
          <a:xfrm>
            <a:off x="12795885" y="7637780"/>
            <a:ext cx="1834515" cy="50673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59473" y="608290"/>
            <a:ext cx="7597854" cy="1380411"/>
          </a:xfrm>
          <a:prstGeom prst="rect">
            <a:avLst/>
          </a:prstGeom>
          <a:noFill/>
        </p:spPr>
        <p:txBody>
          <a:bodyPr wrap="square" lIns="0" tIns="0" rIns="0" bIns="0" rtlCol="0" anchor="t"/>
          <a:lstStyle/>
          <a:p>
            <a:pPr marL="0" indent="0">
              <a:lnSpc>
                <a:spcPts val="5400"/>
              </a:lnSpc>
              <a:buNone/>
            </a:pPr>
            <a:r>
              <a:rPr lang="en-US" sz="4300" dirty="0">
                <a:solidFill>
                  <a:srgbClr val="1D1D1B"/>
                </a:solidFill>
                <a:latin typeface="Tomorrow Semi Bold" charset="0"/>
                <a:ea typeface="Tomorrow Semi Bold" pitchFamily="34" charset="-122"/>
                <a:cs typeface="Tomorrow Semi Bold" pitchFamily="34" charset="-120"/>
              </a:rPr>
              <a:t>Proposed System: Innovative Solutions</a:t>
            </a:r>
            <a:endParaRPr lang="en-US" sz="4300" dirty="0"/>
          </a:p>
        </p:txBody>
      </p:sp>
      <p:pic>
        <p:nvPicPr>
          <p:cNvPr id="4" name="Image 1" descr="preencoded.png"/>
          <p:cNvPicPr>
            <a:picLocks noChangeAspect="1"/>
          </p:cNvPicPr>
          <p:nvPr/>
        </p:nvPicPr>
        <p:blipFill>
          <a:blip r:embed="rId2"/>
          <a:stretch>
            <a:fillRect/>
          </a:stretch>
        </p:blipFill>
        <p:spPr>
          <a:xfrm>
            <a:off x="6259473" y="2319933"/>
            <a:ext cx="1104424" cy="1767126"/>
          </a:xfrm>
          <a:prstGeom prst="rect">
            <a:avLst/>
          </a:prstGeom>
        </p:spPr>
      </p:pic>
      <p:sp>
        <p:nvSpPr>
          <p:cNvPr id="5" name="Text 1"/>
          <p:cNvSpPr/>
          <p:nvPr/>
        </p:nvSpPr>
        <p:spPr>
          <a:xfrm>
            <a:off x="7695128" y="2540794"/>
            <a:ext cx="4175998" cy="345043"/>
          </a:xfrm>
          <a:prstGeom prst="rect">
            <a:avLst/>
          </a:prstGeom>
          <a:noFill/>
        </p:spPr>
        <p:txBody>
          <a:bodyPr wrap="none" lIns="0" tIns="0" rIns="0" bIns="0" rtlCol="0" anchor="t"/>
          <a:lstStyle/>
          <a:p>
            <a:pPr marL="0" indent="0" algn="l">
              <a:lnSpc>
                <a:spcPts val="2700"/>
              </a:lnSpc>
              <a:buNone/>
            </a:pPr>
            <a:r>
              <a:rPr lang="en-US" sz="2150" dirty="0">
                <a:solidFill>
                  <a:srgbClr val="61615C"/>
                </a:solidFill>
                <a:latin typeface="Tomorrow Semi Bold" charset="0"/>
                <a:ea typeface="Tomorrow Semi Bold" pitchFamily="34" charset="-122"/>
                <a:cs typeface="Tomorrow Semi Bold" pitchFamily="34" charset="-120"/>
              </a:rPr>
              <a:t>Deep Reinforcement Learning</a:t>
            </a:r>
            <a:endParaRPr lang="en-US" sz="2150" dirty="0"/>
          </a:p>
        </p:txBody>
      </p:sp>
      <p:sp>
        <p:nvSpPr>
          <p:cNvPr id="6" name="Text 2"/>
          <p:cNvSpPr/>
          <p:nvPr/>
        </p:nvSpPr>
        <p:spPr>
          <a:xfrm>
            <a:off x="7695128" y="3018353"/>
            <a:ext cx="6162199" cy="706755"/>
          </a:xfrm>
          <a:prstGeom prst="rect">
            <a:avLst/>
          </a:prstGeom>
          <a:noFill/>
        </p:spPr>
        <p:txBody>
          <a:bodyPr wrap="square" lIns="0" tIns="0" rIns="0" bIns="0" rtlCol="0" anchor="t"/>
          <a:lstStyle/>
          <a:p>
            <a:pPr marL="0" indent="0" algn="l">
              <a:lnSpc>
                <a:spcPts val="2750"/>
              </a:lnSpc>
              <a:buNone/>
            </a:pPr>
            <a:r>
              <a:rPr lang="en-US" sz="1700" dirty="0">
                <a:solidFill>
                  <a:srgbClr val="61615C"/>
                </a:solidFill>
                <a:latin typeface="Tomorrow" pitchFamily="34" charset="0"/>
                <a:ea typeface="Tomorrow" pitchFamily="34" charset="-122"/>
                <a:cs typeface="Tomorrow" pitchFamily="34" charset="-120"/>
              </a:rPr>
              <a:t>Leveraging deep neural networks to learn complex, high-dimensional state-action mappings.</a:t>
            </a:r>
            <a:endParaRPr lang="en-US" sz="1700" dirty="0"/>
          </a:p>
        </p:txBody>
      </p:sp>
      <p:pic>
        <p:nvPicPr>
          <p:cNvPr id="7" name="Image 2" descr="preencoded.png"/>
          <p:cNvPicPr>
            <a:picLocks noChangeAspect="1"/>
          </p:cNvPicPr>
          <p:nvPr/>
        </p:nvPicPr>
        <p:blipFill>
          <a:blip r:embed="rId3"/>
          <a:stretch>
            <a:fillRect/>
          </a:stretch>
        </p:blipFill>
        <p:spPr>
          <a:xfrm>
            <a:off x="6259473" y="4087058"/>
            <a:ext cx="1104424" cy="1767126"/>
          </a:xfrm>
          <a:prstGeom prst="rect">
            <a:avLst/>
          </a:prstGeom>
        </p:spPr>
      </p:pic>
      <p:sp>
        <p:nvSpPr>
          <p:cNvPr id="8" name="Text 3"/>
          <p:cNvSpPr/>
          <p:nvPr/>
        </p:nvSpPr>
        <p:spPr>
          <a:xfrm>
            <a:off x="7695128" y="4307919"/>
            <a:ext cx="3521035" cy="345043"/>
          </a:xfrm>
          <a:prstGeom prst="rect">
            <a:avLst/>
          </a:prstGeom>
          <a:noFill/>
        </p:spPr>
        <p:txBody>
          <a:bodyPr wrap="none" lIns="0" tIns="0" rIns="0" bIns="0" rtlCol="0" anchor="t"/>
          <a:lstStyle/>
          <a:p>
            <a:pPr marL="0" indent="0" algn="l">
              <a:lnSpc>
                <a:spcPts val="2700"/>
              </a:lnSpc>
              <a:buNone/>
            </a:pPr>
            <a:r>
              <a:rPr lang="en-US" sz="2150" dirty="0">
                <a:solidFill>
                  <a:srgbClr val="61615C"/>
                </a:solidFill>
                <a:latin typeface="Tomorrow Semi Bold" charset="0"/>
                <a:ea typeface="Tomorrow Semi Bold" pitchFamily="34" charset="-122"/>
                <a:cs typeface="Tomorrow Semi Bold" pitchFamily="34" charset="-120"/>
              </a:rPr>
              <a:t>Multi-Agent Coordination</a:t>
            </a:r>
            <a:endParaRPr lang="en-US" sz="2150" dirty="0"/>
          </a:p>
        </p:txBody>
      </p:sp>
      <p:sp>
        <p:nvSpPr>
          <p:cNvPr id="9" name="Text 4"/>
          <p:cNvSpPr/>
          <p:nvPr/>
        </p:nvSpPr>
        <p:spPr>
          <a:xfrm>
            <a:off x="7695128" y="4785479"/>
            <a:ext cx="6162199" cy="706755"/>
          </a:xfrm>
          <a:prstGeom prst="rect">
            <a:avLst/>
          </a:prstGeom>
          <a:noFill/>
        </p:spPr>
        <p:txBody>
          <a:bodyPr wrap="square" lIns="0" tIns="0" rIns="0" bIns="0" rtlCol="0" anchor="t"/>
          <a:lstStyle/>
          <a:p>
            <a:pPr marL="0" indent="0" algn="l">
              <a:lnSpc>
                <a:spcPts val="2750"/>
              </a:lnSpc>
              <a:buNone/>
            </a:pPr>
            <a:r>
              <a:rPr lang="en-US" sz="1700" dirty="0">
                <a:solidFill>
                  <a:srgbClr val="61615C"/>
                </a:solidFill>
                <a:latin typeface="Tomorrow" pitchFamily="34" charset="0"/>
                <a:ea typeface="Tomorrow" pitchFamily="34" charset="-122"/>
                <a:cs typeface="Tomorrow" pitchFamily="34" charset="-120"/>
              </a:rPr>
              <a:t>Enabling collaborative learning and decision-making among a team of RL agents.</a:t>
            </a:r>
            <a:endParaRPr lang="en-US" sz="1700" dirty="0"/>
          </a:p>
        </p:txBody>
      </p:sp>
      <p:pic>
        <p:nvPicPr>
          <p:cNvPr id="10" name="Image 3" descr="preencoded.png"/>
          <p:cNvPicPr>
            <a:picLocks noChangeAspect="1"/>
          </p:cNvPicPr>
          <p:nvPr/>
        </p:nvPicPr>
        <p:blipFill>
          <a:blip r:embed="rId4"/>
          <a:stretch>
            <a:fillRect/>
          </a:stretch>
        </p:blipFill>
        <p:spPr>
          <a:xfrm>
            <a:off x="6259473" y="5854184"/>
            <a:ext cx="1104424" cy="1767126"/>
          </a:xfrm>
          <a:prstGeom prst="rect">
            <a:avLst/>
          </a:prstGeom>
        </p:spPr>
      </p:pic>
      <p:sp>
        <p:nvSpPr>
          <p:cNvPr id="11" name="Text 5"/>
          <p:cNvSpPr/>
          <p:nvPr/>
        </p:nvSpPr>
        <p:spPr>
          <a:xfrm>
            <a:off x="7695128" y="6075045"/>
            <a:ext cx="2761178" cy="345043"/>
          </a:xfrm>
          <a:prstGeom prst="rect">
            <a:avLst/>
          </a:prstGeom>
          <a:noFill/>
        </p:spPr>
        <p:txBody>
          <a:bodyPr wrap="none" lIns="0" tIns="0" rIns="0" bIns="0" rtlCol="0" anchor="t"/>
          <a:lstStyle/>
          <a:p>
            <a:pPr marL="0" indent="0" algn="l">
              <a:lnSpc>
                <a:spcPts val="2700"/>
              </a:lnSpc>
              <a:buNone/>
            </a:pPr>
            <a:r>
              <a:rPr lang="en-US" sz="2150" dirty="0">
                <a:solidFill>
                  <a:srgbClr val="61615C"/>
                </a:solidFill>
                <a:latin typeface="Tomorrow Semi Bold" charset="0"/>
                <a:ea typeface="Tomorrow Semi Bold" pitchFamily="34" charset="-122"/>
                <a:cs typeface="Tomorrow Semi Bold" pitchFamily="34" charset="-120"/>
              </a:rPr>
              <a:t>Reward Shaping</a:t>
            </a:r>
            <a:endParaRPr lang="en-US" sz="2150" dirty="0"/>
          </a:p>
        </p:txBody>
      </p:sp>
      <p:sp>
        <p:nvSpPr>
          <p:cNvPr id="12" name="Text 6"/>
          <p:cNvSpPr/>
          <p:nvPr/>
        </p:nvSpPr>
        <p:spPr>
          <a:xfrm>
            <a:off x="7695128" y="6552605"/>
            <a:ext cx="6162199" cy="706755"/>
          </a:xfrm>
          <a:prstGeom prst="rect">
            <a:avLst/>
          </a:prstGeom>
          <a:noFill/>
        </p:spPr>
        <p:txBody>
          <a:bodyPr wrap="square" lIns="0" tIns="0" rIns="0" bIns="0" rtlCol="0" anchor="t"/>
          <a:lstStyle/>
          <a:p>
            <a:pPr marL="0" indent="0" algn="l">
              <a:lnSpc>
                <a:spcPts val="2750"/>
              </a:lnSpc>
              <a:buNone/>
            </a:pPr>
            <a:r>
              <a:rPr lang="en-US" sz="1700" dirty="0">
                <a:solidFill>
                  <a:srgbClr val="61615C"/>
                </a:solidFill>
                <a:latin typeface="Tomorrow" pitchFamily="34" charset="0"/>
                <a:ea typeface="Tomorrow" pitchFamily="34" charset="-122"/>
                <a:cs typeface="Tomorrow" pitchFamily="34" charset="-120"/>
              </a:rPr>
              <a:t>Designing effective reward functions to guide the RL agent towards optimal behaviors.</a:t>
            </a:r>
            <a:endParaRPr lang="en-US" sz="1700" dirty="0"/>
          </a:p>
        </p:txBody>
      </p:sp>
      <p:sp>
        <p:nvSpPr>
          <p:cNvPr id="13" name="Rectangles 12"/>
          <p:cNvSpPr/>
          <p:nvPr/>
        </p:nvSpPr>
        <p:spPr>
          <a:xfrm>
            <a:off x="12706985" y="7621270"/>
            <a:ext cx="1884680" cy="60833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14812" y="494109"/>
            <a:ext cx="7887176" cy="1122045"/>
          </a:xfrm>
          <a:prstGeom prst="rect">
            <a:avLst/>
          </a:prstGeom>
          <a:noFill/>
        </p:spPr>
        <p:txBody>
          <a:bodyPr wrap="square" lIns="0" tIns="0" rIns="0" bIns="0" rtlCol="0" anchor="t"/>
          <a:lstStyle/>
          <a:p>
            <a:pPr marL="0" indent="0">
              <a:lnSpc>
                <a:spcPts val="4400"/>
              </a:lnSpc>
              <a:buNone/>
            </a:pPr>
            <a:r>
              <a:rPr lang="en-US" sz="3500" dirty="0">
                <a:solidFill>
                  <a:srgbClr val="1D1D1B"/>
                </a:solidFill>
                <a:latin typeface="Tomorrow Semi Bold" charset="0"/>
                <a:ea typeface="Tomorrow Semi Bold" pitchFamily="34" charset="-122"/>
                <a:cs typeface="Tomorrow Semi Bold" pitchFamily="34" charset="-120"/>
              </a:rPr>
              <a:t>Applications: Unleashing the Potential</a:t>
            </a:r>
            <a:endParaRPr lang="en-US" sz="3500" dirty="0"/>
          </a:p>
        </p:txBody>
      </p:sp>
      <p:pic>
        <p:nvPicPr>
          <p:cNvPr id="4" name="Image 1" descr="preencoded.png"/>
          <p:cNvPicPr>
            <a:picLocks noChangeAspect="1"/>
          </p:cNvPicPr>
          <p:nvPr/>
        </p:nvPicPr>
        <p:blipFill>
          <a:blip r:embed="rId2"/>
          <a:stretch>
            <a:fillRect/>
          </a:stretch>
        </p:blipFill>
        <p:spPr>
          <a:xfrm>
            <a:off x="6114812" y="1885474"/>
            <a:ext cx="448866" cy="448866"/>
          </a:xfrm>
          <a:prstGeom prst="rect">
            <a:avLst/>
          </a:prstGeom>
        </p:spPr>
      </p:pic>
      <p:sp>
        <p:nvSpPr>
          <p:cNvPr id="5" name="Text 1"/>
          <p:cNvSpPr/>
          <p:nvPr/>
        </p:nvSpPr>
        <p:spPr>
          <a:xfrm>
            <a:off x="6114812" y="2513886"/>
            <a:ext cx="2244328" cy="280511"/>
          </a:xfrm>
          <a:prstGeom prst="rect">
            <a:avLst/>
          </a:prstGeom>
          <a:noFill/>
        </p:spPr>
        <p:txBody>
          <a:bodyPr wrap="none" lIns="0" tIns="0" rIns="0" bIns="0" rtlCol="0" anchor="t"/>
          <a:lstStyle/>
          <a:p>
            <a:pPr marL="0" indent="0" algn="l">
              <a:lnSpc>
                <a:spcPts val="2200"/>
              </a:lnSpc>
              <a:buNone/>
            </a:pPr>
            <a:r>
              <a:rPr lang="en-US" sz="1750" dirty="0">
                <a:solidFill>
                  <a:srgbClr val="61615C"/>
                </a:solidFill>
                <a:latin typeface="Tomorrow Semi Bold" charset="0"/>
                <a:ea typeface="Tomorrow Semi Bold" pitchFamily="34" charset="-122"/>
                <a:cs typeface="Tomorrow Semi Bold" pitchFamily="34" charset="-120"/>
              </a:rPr>
              <a:t>Robotics</a:t>
            </a:r>
            <a:endParaRPr lang="en-US" sz="1750" dirty="0"/>
          </a:p>
        </p:txBody>
      </p:sp>
      <p:sp>
        <p:nvSpPr>
          <p:cNvPr id="6" name="Text 2"/>
          <p:cNvSpPr/>
          <p:nvPr/>
        </p:nvSpPr>
        <p:spPr>
          <a:xfrm>
            <a:off x="6114812" y="2902029"/>
            <a:ext cx="7887176" cy="574358"/>
          </a:xfrm>
          <a:prstGeom prst="rect">
            <a:avLst/>
          </a:prstGeom>
          <a:noFill/>
        </p:spPr>
        <p:txBody>
          <a:bodyPr wrap="square" lIns="0" tIns="0" rIns="0" bIns="0" rtlCol="0" anchor="t"/>
          <a:lstStyle/>
          <a:p>
            <a:pPr marL="0" indent="0" algn="l">
              <a:lnSpc>
                <a:spcPts val="2250"/>
              </a:lnSpc>
              <a:buNone/>
            </a:pPr>
            <a:r>
              <a:rPr lang="en-US" sz="1400" dirty="0">
                <a:solidFill>
                  <a:srgbClr val="61615C"/>
                </a:solidFill>
                <a:latin typeface="Tomorrow" pitchFamily="34" charset="0"/>
                <a:ea typeface="Tomorrow" pitchFamily="34" charset="-122"/>
                <a:cs typeface="Tomorrow" pitchFamily="34" charset="-120"/>
              </a:rPr>
              <a:t>RL agents can learn to control complex robotic systems for tasks like navigation, manipulation, and perception.</a:t>
            </a:r>
            <a:endParaRPr lang="en-US" sz="1400" dirty="0"/>
          </a:p>
        </p:txBody>
      </p:sp>
      <p:pic>
        <p:nvPicPr>
          <p:cNvPr id="7" name="Image 2" descr="preencoded.png"/>
          <p:cNvPicPr>
            <a:picLocks noChangeAspect="1"/>
          </p:cNvPicPr>
          <p:nvPr/>
        </p:nvPicPr>
        <p:blipFill>
          <a:blip r:embed="rId3"/>
          <a:stretch>
            <a:fillRect/>
          </a:stretch>
        </p:blipFill>
        <p:spPr>
          <a:xfrm>
            <a:off x="6114812" y="4015026"/>
            <a:ext cx="448866" cy="448866"/>
          </a:xfrm>
          <a:prstGeom prst="rect">
            <a:avLst/>
          </a:prstGeom>
        </p:spPr>
      </p:pic>
      <p:sp>
        <p:nvSpPr>
          <p:cNvPr id="8" name="Text 3"/>
          <p:cNvSpPr/>
          <p:nvPr/>
        </p:nvSpPr>
        <p:spPr>
          <a:xfrm>
            <a:off x="6114812" y="4643438"/>
            <a:ext cx="2244328" cy="280511"/>
          </a:xfrm>
          <a:prstGeom prst="rect">
            <a:avLst/>
          </a:prstGeom>
          <a:noFill/>
        </p:spPr>
        <p:txBody>
          <a:bodyPr wrap="none" lIns="0" tIns="0" rIns="0" bIns="0" rtlCol="0" anchor="t"/>
          <a:lstStyle/>
          <a:p>
            <a:pPr marL="0" indent="0" algn="l">
              <a:lnSpc>
                <a:spcPts val="2200"/>
              </a:lnSpc>
              <a:buNone/>
            </a:pPr>
            <a:r>
              <a:rPr lang="en-US" sz="1750" dirty="0">
                <a:solidFill>
                  <a:srgbClr val="61615C"/>
                </a:solidFill>
                <a:latin typeface="Tomorrow Semi Bold" charset="0"/>
                <a:ea typeface="Tomorrow Semi Bold" pitchFamily="34" charset="-122"/>
                <a:cs typeface="Tomorrow Semi Bold" pitchFamily="34" charset="-120"/>
              </a:rPr>
              <a:t>Game AI</a:t>
            </a:r>
            <a:endParaRPr lang="en-US" sz="1750" dirty="0"/>
          </a:p>
        </p:txBody>
      </p:sp>
      <p:sp>
        <p:nvSpPr>
          <p:cNvPr id="9" name="Text 4"/>
          <p:cNvSpPr/>
          <p:nvPr/>
        </p:nvSpPr>
        <p:spPr>
          <a:xfrm>
            <a:off x="6114812" y="5031581"/>
            <a:ext cx="7887176" cy="574358"/>
          </a:xfrm>
          <a:prstGeom prst="rect">
            <a:avLst/>
          </a:prstGeom>
          <a:noFill/>
        </p:spPr>
        <p:txBody>
          <a:bodyPr wrap="square" lIns="0" tIns="0" rIns="0" bIns="0" rtlCol="0" anchor="t"/>
          <a:lstStyle/>
          <a:p>
            <a:pPr marL="0" indent="0" algn="l">
              <a:lnSpc>
                <a:spcPts val="2250"/>
              </a:lnSpc>
              <a:buNone/>
            </a:pPr>
            <a:r>
              <a:rPr lang="en-US" sz="1400" dirty="0">
                <a:solidFill>
                  <a:srgbClr val="61615C"/>
                </a:solidFill>
                <a:latin typeface="Tomorrow" pitchFamily="34" charset="0"/>
                <a:ea typeface="Tomorrow" pitchFamily="34" charset="-122"/>
                <a:cs typeface="Tomorrow" pitchFamily="34" charset="-120"/>
              </a:rPr>
              <a:t>RL enables the development of intelligent, adaptive game agents that can learn and adapt to player behavior.</a:t>
            </a:r>
            <a:endParaRPr lang="en-US" sz="1400" dirty="0"/>
          </a:p>
        </p:txBody>
      </p:sp>
      <p:pic>
        <p:nvPicPr>
          <p:cNvPr id="10" name="Image 3" descr="preencoded.png"/>
          <p:cNvPicPr>
            <a:picLocks noChangeAspect="1"/>
          </p:cNvPicPr>
          <p:nvPr/>
        </p:nvPicPr>
        <p:blipFill>
          <a:blip r:embed="rId4"/>
          <a:stretch>
            <a:fillRect/>
          </a:stretch>
        </p:blipFill>
        <p:spPr>
          <a:xfrm>
            <a:off x="6114812" y="6144578"/>
            <a:ext cx="448866" cy="448866"/>
          </a:xfrm>
          <a:prstGeom prst="rect">
            <a:avLst/>
          </a:prstGeom>
        </p:spPr>
      </p:pic>
      <p:sp>
        <p:nvSpPr>
          <p:cNvPr id="11" name="Text 5"/>
          <p:cNvSpPr/>
          <p:nvPr/>
        </p:nvSpPr>
        <p:spPr>
          <a:xfrm>
            <a:off x="6114812" y="6772989"/>
            <a:ext cx="2629733" cy="280511"/>
          </a:xfrm>
          <a:prstGeom prst="rect">
            <a:avLst/>
          </a:prstGeom>
          <a:noFill/>
        </p:spPr>
        <p:txBody>
          <a:bodyPr wrap="none" lIns="0" tIns="0" rIns="0" bIns="0" rtlCol="0" anchor="t"/>
          <a:lstStyle/>
          <a:p>
            <a:pPr marL="0" indent="0" algn="l">
              <a:lnSpc>
                <a:spcPts val="2200"/>
              </a:lnSpc>
              <a:buNone/>
            </a:pPr>
            <a:r>
              <a:rPr lang="en-US" sz="1750" dirty="0">
                <a:solidFill>
                  <a:srgbClr val="61615C"/>
                </a:solidFill>
                <a:latin typeface="Tomorrow Semi Bold" charset="0"/>
                <a:ea typeface="Tomorrow Semi Bold" pitchFamily="34" charset="-122"/>
                <a:cs typeface="Tomorrow Semi Bold" pitchFamily="34" charset="-120"/>
              </a:rPr>
              <a:t>Industrial Optimization</a:t>
            </a:r>
            <a:endParaRPr lang="en-US" sz="1750" dirty="0"/>
          </a:p>
        </p:txBody>
      </p:sp>
      <p:sp>
        <p:nvSpPr>
          <p:cNvPr id="12" name="Text 6"/>
          <p:cNvSpPr/>
          <p:nvPr/>
        </p:nvSpPr>
        <p:spPr>
          <a:xfrm>
            <a:off x="6114812" y="7161133"/>
            <a:ext cx="7887176" cy="574358"/>
          </a:xfrm>
          <a:prstGeom prst="rect">
            <a:avLst/>
          </a:prstGeom>
          <a:noFill/>
        </p:spPr>
        <p:txBody>
          <a:bodyPr wrap="square" lIns="0" tIns="0" rIns="0" bIns="0" rtlCol="0" anchor="t"/>
          <a:lstStyle/>
          <a:p>
            <a:pPr marL="0" indent="0" algn="l">
              <a:lnSpc>
                <a:spcPts val="2250"/>
              </a:lnSpc>
              <a:buNone/>
            </a:pPr>
            <a:r>
              <a:rPr lang="en-US" sz="1400" dirty="0">
                <a:solidFill>
                  <a:srgbClr val="61615C"/>
                </a:solidFill>
                <a:latin typeface="Tomorrow" pitchFamily="34" charset="0"/>
                <a:ea typeface="Tomorrow" pitchFamily="34" charset="-122"/>
                <a:cs typeface="Tomorrow" pitchFamily="34" charset="-120"/>
              </a:rPr>
              <a:t>RL can be used to optimize manufacturing processes, logistics, and resource allocation in industrial settings.</a:t>
            </a:r>
            <a:endParaRPr lang="en-US" sz="1400" dirty="0"/>
          </a:p>
        </p:txBody>
      </p:sp>
      <p:sp>
        <p:nvSpPr>
          <p:cNvPr id="13" name="Rectangles 12"/>
          <p:cNvSpPr/>
          <p:nvPr/>
        </p:nvSpPr>
        <p:spPr>
          <a:xfrm>
            <a:off x="12833985" y="7735570"/>
            <a:ext cx="1731645" cy="49403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24587" y="919163"/>
            <a:ext cx="7580233" cy="659130"/>
          </a:xfrm>
          <a:prstGeom prst="rect">
            <a:avLst/>
          </a:prstGeom>
          <a:noFill/>
        </p:spPr>
        <p:txBody>
          <a:bodyPr wrap="none" lIns="0" tIns="0" rIns="0" bIns="0" rtlCol="0" anchor="t"/>
          <a:lstStyle/>
          <a:p>
            <a:pPr marL="0" indent="0">
              <a:lnSpc>
                <a:spcPts val="5150"/>
              </a:lnSpc>
              <a:buNone/>
            </a:pPr>
            <a:r>
              <a:rPr lang="en-US" sz="4150" dirty="0">
                <a:solidFill>
                  <a:srgbClr val="1D1D1B"/>
                </a:solidFill>
                <a:latin typeface="Tomorrow Semi Bold" charset="0"/>
                <a:ea typeface="Tomorrow Semi Bold" pitchFamily="34" charset="-122"/>
                <a:cs typeface="Tomorrow Semi Bold" pitchFamily="34" charset="-120"/>
              </a:rPr>
              <a:t>Conclusion: The Road Ahead</a:t>
            </a:r>
            <a:endParaRPr lang="en-US" sz="4150" dirty="0"/>
          </a:p>
        </p:txBody>
      </p:sp>
      <p:sp>
        <p:nvSpPr>
          <p:cNvPr id="4" name="Shape 1"/>
          <p:cNvSpPr/>
          <p:nvPr/>
        </p:nvSpPr>
        <p:spPr>
          <a:xfrm>
            <a:off x="6529507" y="1894642"/>
            <a:ext cx="22860" cy="5415677"/>
          </a:xfrm>
          <a:prstGeom prst="roundRect">
            <a:avLst>
              <a:gd name="adj" fmla="val 138397"/>
            </a:avLst>
          </a:prstGeom>
          <a:solidFill>
            <a:srgbClr val="D6D0D0"/>
          </a:solidFill>
        </p:spPr>
      </p:sp>
      <p:sp>
        <p:nvSpPr>
          <p:cNvPr id="5" name="Shape 2"/>
          <p:cNvSpPr/>
          <p:nvPr/>
        </p:nvSpPr>
        <p:spPr>
          <a:xfrm>
            <a:off x="6755309" y="2357557"/>
            <a:ext cx="738188" cy="22860"/>
          </a:xfrm>
          <a:prstGeom prst="roundRect">
            <a:avLst>
              <a:gd name="adj" fmla="val 138397"/>
            </a:avLst>
          </a:prstGeom>
          <a:solidFill>
            <a:srgbClr val="D6D0D0"/>
          </a:solidFill>
        </p:spPr>
      </p:sp>
      <p:sp>
        <p:nvSpPr>
          <p:cNvPr id="6" name="Shape 3"/>
          <p:cNvSpPr/>
          <p:nvPr/>
        </p:nvSpPr>
        <p:spPr>
          <a:xfrm>
            <a:off x="6303705" y="2131814"/>
            <a:ext cx="474464" cy="474464"/>
          </a:xfrm>
          <a:prstGeom prst="roundRect">
            <a:avLst>
              <a:gd name="adj" fmla="val 6668"/>
            </a:avLst>
          </a:prstGeom>
          <a:solidFill>
            <a:srgbClr val="F0EAEA"/>
          </a:solidFill>
        </p:spPr>
      </p:sp>
      <p:sp>
        <p:nvSpPr>
          <p:cNvPr id="7" name="Text 4"/>
          <p:cNvSpPr/>
          <p:nvPr/>
        </p:nvSpPr>
        <p:spPr>
          <a:xfrm>
            <a:off x="6468963" y="2210872"/>
            <a:ext cx="143947" cy="316349"/>
          </a:xfrm>
          <a:prstGeom prst="rect">
            <a:avLst/>
          </a:prstGeom>
          <a:noFill/>
        </p:spPr>
        <p:txBody>
          <a:bodyPr wrap="none" lIns="0" tIns="0" rIns="0" bIns="0" rtlCol="0" anchor="t"/>
          <a:lstStyle/>
          <a:p>
            <a:pPr marL="0" indent="0" algn="ctr">
              <a:lnSpc>
                <a:spcPts val="2450"/>
              </a:lnSpc>
              <a:buNone/>
            </a:pPr>
            <a:r>
              <a:rPr lang="en-US" sz="2450" dirty="0">
                <a:solidFill>
                  <a:srgbClr val="61615C"/>
                </a:solidFill>
                <a:latin typeface="Tomorrow Semi Bold" charset="0"/>
                <a:ea typeface="Tomorrow Semi Bold" pitchFamily="34" charset="-122"/>
                <a:cs typeface="Tomorrow Semi Bold" pitchFamily="34" charset="-120"/>
              </a:rPr>
              <a:t>1</a:t>
            </a:r>
            <a:endParaRPr lang="en-US" sz="2450" dirty="0"/>
          </a:p>
        </p:txBody>
      </p:sp>
      <p:sp>
        <p:nvSpPr>
          <p:cNvPr id="8" name="Text 5"/>
          <p:cNvSpPr/>
          <p:nvPr/>
        </p:nvSpPr>
        <p:spPr>
          <a:xfrm>
            <a:off x="7700963" y="2105501"/>
            <a:ext cx="3630335" cy="329446"/>
          </a:xfrm>
          <a:prstGeom prst="rect">
            <a:avLst/>
          </a:prstGeom>
          <a:noFill/>
        </p:spPr>
        <p:txBody>
          <a:bodyPr wrap="none" lIns="0" tIns="0" rIns="0" bIns="0" rtlCol="0" anchor="t"/>
          <a:lstStyle/>
          <a:p>
            <a:pPr marL="0" indent="0" algn="l">
              <a:lnSpc>
                <a:spcPts val="2550"/>
              </a:lnSpc>
              <a:buNone/>
            </a:pPr>
            <a:r>
              <a:rPr lang="en-US" sz="2050" dirty="0">
                <a:solidFill>
                  <a:srgbClr val="61615C"/>
                </a:solidFill>
                <a:latin typeface="Tomorrow Semi Bold" charset="0"/>
                <a:ea typeface="Tomorrow Semi Bold" pitchFamily="34" charset="-122"/>
                <a:cs typeface="Tomorrow Semi Bold" pitchFamily="34" charset="-120"/>
              </a:rPr>
              <a:t>Continuous Advancements</a:t>
            </a:r>
            <a:endParaRPr lang="en-US" sz="2050" dirty="0"/>
          </a:p>
        </p:txBody>
      </p:sp>
      <p:sp>
        <p:nvSpPr>
          <p:cNvPr id="9" name="Text 6"/>
          <p:cNvSpPr/>
          <p:nvPr/>
        </p:nvSpPr>
        <p:spPr>
          <a:xfrm>
            <a:off x="7700963" y="2561392"/>
            <a:ext cx="6191250" cy="1011912"/>
          </a:xfrm>
          <a:prstGeom prst="rect">
            <a:avLst/>
          </a:prstGeom>
          <a:noFill/>
        </p:spPr>
        <p:txBody>
          <a:bodyPr wrap="square" lIns="0" tIns="0" rIns="0" bIns="0" rtlCol="0" anchor="t"/>
          <a:lstStyle/>
          <a:p>
            <a:pPr marL="0" indent="0" algn="l">
              <a:lnSpc>
                <a:spcPts val="2650"/>
              </a:lnSpc>
              <a:buNone/>
            </a:pPr>
            <a:r>
              <a:rPr lang="en-US" sz="1650" dirty="0">
                <a:solidFill>
                  <a:srgbClr val="61615C"/>
                </a:solidFill>
                <a:latin typeface="Tomorrow" pitchFamily="34" charset="0"/>
                <a:ea typeface="Tomorrow" pitchFamily="34" charset="-122"/>
                <a:cs typeface="Tomorrow" pitchFamily="34" charset="-120"/>
              </a:rPr>
              <a:t>Ongoing research and development will drive further breakthroughs in reinforcement learning algorithms and applications.</a:t>
            </a:r>
            <a:endParaRPr lang="en-US" sz="1650" dirty="0"/>
          </a:p>
        </p:txBody>
      </p:sp>
      <p:sp>
        <p:nvSpPr>
          <p:cNvPr id="10" name="Shape 7"/>
          <p:cNvSpPr/>
          <p:nvPr/>
        </p:nvSpPr>
        <p:spPr>
          <a:xfrm>
            <a:off x="6755309" y="4457938"/>
            <a:ext cx="738188" cy="22860"/>
          </a:xfrm>
          <a:prstGeom prst="roundRect">
            <a:avLst>
              <a:gd name="adj" fmla="val 138397"/>
            </a:avLst>
          </a:prstGeom>
          <a:solidFill>
            <a:srgbClr val="D6D0D0"/>
          </a:solidFill>
        </p:spPr>
      </p:sp>
      <p:sp>
        <p:nvSpPr>
          <p:cNvPr id="11" name="Shape 8"/>
          <p:cNvSpPr/>
          <p:nvPr/>
        </p:nvSpPr>
        <p:spPr>
          <a:xfrm>
            <a:off x="6303705" y="4232196"/>
            <a:ext cx="474464" cy="474464"/>
          </a:xfrm>
          <a:prstGeom prst="roundRect">
            <a:avLst>
              <a:gd name="adj" fmla="val 6668"/>
            </a:avLst>
          </a:prstGeom>
          <a:solidFill>
            <a:srgbClr val="F0EAEA"/>
          </a:solidFill>
        </p:spPr>
      </p:sp>
      <p:sp>
        <p:nvSpPr>
          <p:cNvPr id="12" name="Text 9"/>
          <p:cNvSpPr/>
          <p:nvPr/>
        </p:nvSpPr>
        <p:spPr>
          <a:xfrm>
            <a:off x="6434673" y="4311253"/>
            <a:ext cx="212527" cy="316349"/>
          </a:xfrm>
          <a:prstGeom prst="rect">
            <a:avLst/>
          </a:prstGeom>
          <a:noFill/>
        </p:spPr>
        <p:txBody>
          <a:bodyPr wrap="none" lIns="0" tIns="0" rIns="0" bIns="0" rtlCol="0" anchor="t"/>
          <a:lstStyle/>
          <a:p>
            <a:pPr marL="0" indent="0" algn="ctr">
              <a:lnSpc>
                <a:spcPts val="2450"/>
              </a:lnSpc>
              <a:buNone/>
            </a:pPr>
            <a:r>
              <a:rPr lang="en-US" sz="2450" dirty="0">
                <a:solidFill>
                  <a:srgbClr val="61615C"/>
                </a:solidFill>
                <a:latin typeface="Tomorrow Semi Bold" charset="0"/>
                <a:ea typeface="Tomorrow Semi Bold" pitchFamily="34" charset="-122"/>
                <a:cs typeface="Tomorrow Semi Bold" pitchFamily="34" charset="-120"/>
              </a:rPr>
              <a:t>2</a:t>
            </a:r>
            <a:endParaRPr lang="en-US" sz="2450" dirty="0"/>
          </a:p>
        </p:txBody>
      </p:sp>
      <p:sp>
        <p:nvSpPr>
          <p:cNvPr id="13" name="Text 10"/>
          <p:cNvSpPr/>
          <p:nvPr/>
        </p:nvSpPr>
        <p:spPr>
          <a:xfrm>
            <a:off x="7700963" y="4205883"/>
            <a:ext cx="3327559" cy="329446"/>
          </a:xfrm>
          <a:prstGeom prst="rect">
            <a:avLst/>
          </a:prstGeom>
          <a:noFill/>
        </p:spPr>
        <p:txBody>
          <a:bodyPr wrap="none" lIns="0" tIns="0" rIns="0" bIns="0" rtlCol="0" anchor="t"/>
          <a:lstStyle/>
          <a:p>
            <a:pPr marL="0" indent="0" algn="l">
              <a:lnSpc>
                <a:spcPts val="2550"/>
              </a:lnSpc>
              <a:buNone/>
            </a:pPr>
            <a:r>
              <a:rPr lang="en-US" sz="2050" dirty="0">
                <a:solidFill>
                  <a:srgbClr val="61615C"/>
                </a:solidFill>
                <a:latin typeface="Tomorrow Semi Bold" charset="0"/>
                <a:ea typeface="Tomorrow Semi Bold" pitchFamily="34" charset="-122"/>
                <a:cs typeface="Tomorrow Semi Bold" pitchFamily="34" charset="-120"/>
              </a:rPr>
              <a:t>Real-World Deployments</a:t>
            </a:r>
            <a:endParaRPr lang="en-US" sz="2050" dirty="0"/>
          </a:p>
        </p:txBody>
      </p:sp>
      <p:sp>
        <p:nvSpPr>
          <p:cNvPr id="14" name="Text 11"/>
          <p:cNvSpPr/>
          <p:nvPr/>
        </p:nvSpPr>
        <p:spPr>
          <a:xfrm>
            <a:off x="7700963" y="4661773"/>
            <a:ext cx="6191250" cy="674608"/>
          </a:xfrm>
          <a:prstGeom prst="rect">
            <a:avLst/>
          </a:prstGeom>
          <a:noFill/>
        </p:spPr>
        <p:txBody>
          <a:bodyPr wrap="square" lIns="0" tIns="0" rIns="0" bIns="0" rtlCol="0" anchor="t"/>
          <a:lstStyle/>
          <a:p>
            <a:pPr marL="0" indent="0" algn="l">
              <a:lnSpc>
                <a:spcPts val="2650"/>
              </a:lnSpc>
              <a:buNone/>
            </a:pPr>
            <a:r>
              <a:rPr lang="en-US" sz="1650" dirty="0">
                <a:solidFill>
                  <a:srgbClr val="61615C"/>
                </a:solidFill>
                <a:latin typeface="Tomorrow" pitchFamily="34" charset="0"/>
                <a:ea typeface="Tomorrow" pitchFamily="34" charset="-122"/>
                <a:cs typeface="Tomorrow" pitchFamily="34" charset="-120"/>
              </a:rPr>
              <a:t>As the technology matures, we'll see more widespread adoption of RL in diverse industries and domains.</a:t>
            </a:r>
            <a:endParaRPr lang="en-US" sz="1650" dirty="0"/>
          </a:p>
        </p:txBody>
      </p:sp>
      <p:sp>
        <p:nvSpPr>
          <p:cNvPr id="15" name="Shape 12"/>
          <p:cNvSpPr/>
          <p:nvPr/>
        </p:nvSpPr>
        <p:spPr>
          <a:xfrm>
            <a:off x="6755309" y="6221016"/>
            <a:ext cx="738188" cy="22860"/>
          </a:xfrm>
          <a:prstGeom prst="roundRect">
            <a:avLst>
              <a:gd name="adj" fmla="val 138397"/>
            </a:avLst>
          </a:prstGeom>
          <a:solidFill>
            <a:srgbClr val="D6D0D0"/>
          </a:solidFill>
        </p:spPr>
      </p:sp>
      <p:sp>
        <p:nvSpPr>
          <p:cNvPr id="16" name="Shape 13"/>
          <p:cNvSpPr/>
          <p:nvPr/>
        </p:nvSpPr>
        <p:spPr>
          <a:xfrm>
            <a:off x="6303705" y="5995273"/>
            <a:ext cx="474464" cy="474464"/>
          </a:xfrm>
          <a:prstGeom prst="roundRect">
            <a:avLst>
              <a:gd name="adj" fmla="val 6668"/>
            </a:avLst>
          </a:prstGeom>
          <a:solidFill>
            <a:srgbClr val="F0EAEA"/>
          </a:solidFill>
        </p:spPr>
      </p:sp>
      <p:sp>
        <p:nvSpPr>
          <p:cNvPr id="17" name="Text 14"/>
          <p:cNvSpPr/>
          <p:nvPr/>
        </p:nvSpPr>
        <p:spPr>
          <a:xfrm>
            <a:off x="6435269" y="6074331"/>
            <a:ext cx="211336" cy="316349"/>
          </a:xfrm>
          <a:prstGeom prst="rect">
            <a:avLst/>
          </a:prstGeom>
          <a:noFill/>
        </p:spPr>
        <p:txBody>
          <a:bodyPr wrap="none" lIns="0" tIns="0" rIns="0" bIns="0" rtlCol="0" anchor="t"/>
          <a:lstStyle/>
          <a:p>
            <a:pPr marL="0" indent="0" algn="ctr">
              <a:lnSpc>
                <a:spcPts val="2450"/>
              </a:lnSpc>
              <a:buNone/>
            </a:pPr>
            <a:r>
              <a:rPr lang="en-US" sz="2450" dirty="0">
                <a:solidFill>
                  <a:srgbClr val="61615C"/>
                </a:solidFill>
                <a:latin typeface="Tomorrow Semi Bold" charset="0"/>
                <a:ea typeface="Tomorrow Semi Bold" pitchFamily="34" charset="-122"/>
                <a:cs typeface="Tomorrow Semi Bold" pitchFamily="34" charset="-120"/>
              </a:rPr>
              <a:t>3</a:t>
            </a:r>
            <a:endParaRPr lang="en-US" sz="2450" dirty="0"/>
          </a:p>
        </p:txBody>
      </p:sp>
      <p:sp>
        <p:nvSpPr>
          <p:cNvPr id="18" name="Text 15"/>
          <p:cNvSpPr/>
          <p:nvPr/>
        </p:nvSpPr>
        <p:spPr>
          <a:xfrm>
            <a:off x="7700963" y="5968960"/>
            <a:ext cx="2993469" cy="329446"/>
          </a:xfrm>
          <a:prstGeom prst="rect">
            <a:avLst/>
          </a:prstGeom>
          <a:noFill/>
        </p:spPr>
        <p:txBody>
          <a:bodyPr wrap="none" lIns="0" tIns="0" rIns="0" bIns="0" rtlCol="0" anchor="t"/>
          <a:lstStyle/>
          <a:p>
            <a:pPr marL="0" indent="0" algn="l">
              <a:lnSpc>
                <a:spcPts val="2550"/>
              </a:lnSpc>
              <a:buNone/>
            </a:pPr>
            <a:r>
              <a:rPr lang="en-US" sz="2050" dirty="0">
                <a:solidFill>
                  <a:srgbClr val="61615C"/>
                </a:solidFill>
                <a:latin typeface="Tomorrow Semi Bold" charset="0"/>
                <a:ea typeface="Tomorrow Semi Bold" pitchFamily="34" charset="-122"/>
                <a:cs typeface="Tomorrow Semi Bold" pitchFamily="34" charset="-120"/>
              </a:rPr>
              <a:t>Ethical Considerations</a:t>
            </a:r>
            <a:endParaRPr lang="en-US" sz="2050" dirty="0"/>
          </a:p>
        </p:txBody>
      </p:sp>
      <p:sp>
        <p:nvSpPr>
          <p:cNvPr id="19" name="Text 16"/>
          <p:cNvSpPr/>
          <p:nvPr/>
        </p:nvSpPr>
        <p:spPr>
          <a:xfrm>
            <a:off x="7700963" y="6424851"/>
            <a:ext cx="6191250" cy="674608"/>
          </a:xfrm>
          <a:prstGeom prst="rect">
            <a:avLst/>
          </a:prstGeom>
          <a:noFill/>
        </p:spPr>
        <p:txBody>
          <a:bodyPr wrap="square" lIns="0" tIns="0" rIns="0" bIns="0" rtlCol="0" anchor="t"/>
          <a:lstStyle/>
          <a:p>
            <a:pPr marL="0" indent="0" algn="l">
              <a:lnSpc>
                <a:spcPts val="2650"/>
              </a:lnSpc>
              <a:buNone/>
            </a:pPr>
            <a:r>
              <a:rPr lang="en-US" sz="1650" dirty="0">
                <a:solidFill>
                  <a:srgbClr val="61615C"/>
                </a:solidFill>
                <a:latin typeface="Tomorrow" pitchFamily="34" charset="0"/>
                <a:ea typeface="Tomorrow" pitchFamily="34" charset="-122"/>
                <a:cs typeface="Tomorrow" pitchFamily="34" charset="-120"/>
              </a:rPr>
              <a:t>Responsible development and deployment of RL systems will be crucial to ensure their safe and ethical use.</a:t>
            </a:r>
            <a:endParaRPr lang="en-US" sz="1650" dirty="0"/>
          </a:p>
        </p:txBody>
      </p:sp>
      <p:sp>
        <p:nvSpPr>
          <p:cNvPr id="20" name="Rectangles 19"/>
          <p:cNvSpPr/>
          <p:nvPr/>
        </p:nvSpPr>
        <p:spPr>
          <a:xfrm>
            <a:off x="12833985" y="7762240"/>
            <a:ext cx="1808480" cy="4673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059424"/>
            <a:ext cx="5670590" cy="708779"/>
          </a:xfrm>
          <a:prstGeom prst="rect">
            <a:avLst/>
          </a:prstGeom>
          <a:noFill/>
        </p:spPr>
        <p:txBody>
          <a:bodyPr wrap="none" lIns="0" tIns="0" rIns="0" bIns="0" rtlCol="0" anchor="t"/>
          <a:lstStyle/>
          <a:p>
            <a:pPr marL="0" indent="0">
              <a:lnSpc>
                <a:spcPts val="5550"/>
              </a:lnSpc>
              <a:buNone/>
            </a:pPr>
            <a:r>
              <a:rPr lang="en-US" sz="4450" dirty="0">
                <a:solidFill>
                  <a:srgbClr val="1D1D1B"/>
                </a:solidFill>
                <a:latin typeface="Tomorrow Semi Bold" charset="0"/>
                <a:ea typeface="Tomorrow Semi Bold" pitchFamily="34" charset="-122"/>
                <a:cs typeface="Tomorrow Semi Bold" pitchFamily="34" charset="-120"/>
              </a:rPr>
              <a:t>References</a:t>
            </a:r>
            <a:endParaRPr lang="en-US" sz="4450" dirty="0"/>
          </a:p>
        </p:txBody>
      </p:sp>
      <p:sp>
        <p:nvSpPr>
          <p:cNvPr id="4" name="Text 1"/>
          <p:cNvSpPr/>
          <p:nvPr/>
        </p:nvSpPr>
        <p:spPr>
          <a:xfrm>
            <a:off x="6280190" y="3108365"/>
            <a:ext cx="7556421"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Reinforcement Learning: An Introduction by Sutton, R. S. &amp; </a:t>
            </a:r>
            <a:r>
              <a:rPr lang="en-US" sz="1750" dirty="0" err="1">
                <a:solidFill>
                  <a:srgbClr val="61615C"/>
                </a:solidFill>
                <a:latin typeface="Tomorrow" pitchFamily="34" charset="0"/>
                <a:ea typeface="Tomorrow" pitchFamily="34" charset="-122"/>
                <a:cs typeface="Tomorrow" pitchFamily="34" charset="-120"/>
              </a:rPr>
              <a:t>Barto</a:t>
            </a:r>
            <a:r>
              <a:rPr lang="en-US" sz="1750" dirty="0">
                <a:solidFill>
                  <a:srgbClr val="61615C"/>
                </a:solidFill>
                <a:latin typeface="Tomorrow" pitchFamily="34" charset="0"/>
                <a:ea typeface="Tomorrow" pitchFamily="34" charset="-122"/>
                <a:cs typeface="Tomorrow" pitchFamily="34" charset="-120"/>
              </a:rPr>
              <a:t>, A. G. (2018). </a:t>
            </a:r>
            <a:endParaRPr lang="en-US" sz="1750" dirty="0"/>
          </a:p>
        </p:txBody>
      </p:sp>
      <p:sp>
        <p:nvSpPr>
          <p:cNvPr id="5" name="Text 2"/>
          <p:cNvSpPr/>
          <p:nvPr/>
        </p:nvSpPr>
        <p:spPr>
          <a:xfrm>
            <a:off x="6280190" y="3913465"/>
            <a:ext cx="7556421" cy="1088708"/>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Human-level control through deep reinforcement learning by </a:t>
            </a:r>
            <a:r>
              <a:rPr lang="en-US" sz="1750" dirty="0" err="1">
                <a:solidFill>
                  <a:srgbClr val="61615C"/>
                </a:solidFill>
                <a:latin typeface="Tomorrow" pitchFamily="34" charset="0"/>
                <a:ea typeface="Tomorrow" pitchFamily="34" charset="-122"/>
                <a:cs typeface="Tomorrow" pitchFamily="34" charset="-120"/>
              </a:rPr>
              <a:t>Mnih</a:t>
            </a:r>
            <a:r>
              <a:rPr lang="en-US" sz="1750" dirty="0">
                <a:solidFill>
                  <a:srgbClr val="61615C"/>
                </a:solidFill>
                <a:latin typeface="Tomorrow" pitchFamily="34" charset="0"/>
                <a:ea typeface="Tomorrow" pitchFamily="34" charset="-122"/>
                <a:cs typeface="Tomorrow" pitchFamily="34" charset="-120"/>
              </a:rPr>
              <a:t>, V., </a:t>
            </a:r>
            <a:r>
              <a:rPr lang="en-US" sz="1750" dirty="0" err="1">
                <a:solidFill>
                  <a:srgbClr val="61615C"/>
                </a:solidFill>
                <a:latin typeface="Tomorrow" pitchFamily="34" charset="0"/>
                <a:ea typeface="Tomorrow" pitchFamily="34" charset="-122"/>
                <a:cs typeface="Tomorrow" pitchFamily="34" charset="-120"/>
              </a:rPr>
              <a:t>Kavukcuoglu</a:t>
            </a:r>
            <a:r>
              <a:rPr lang="en-US" sz="1750" dirty="0">
                <a:solidFill>
                  <a:srgbClr val="61615C"/>
                </a:solidFill>
                <a:latin typeface="Tomorrow" pitchFamily="34" charset="0"/>
                <a:ea typeface="Tomorrow" pitchFamily="34" charset="-122"/>
                <a:cs typeface="Tomorrow" pitchFamily="34" charset="-120"/>
              </a:rPr>
              <a:t>, K. Silver, </a:t>
            </a:r>
            <a:r>
              <a:rPr lang="en-US" sz="1750" dirty="0" err="1">
                <a:solidFill>
                  <a:srgbClr val="61615C"/>
                </a:solidFill>
                <a:latin typeface="Tomorrow" pitchFamily="34" charset="0"/>
                <a:ea typeface="Tomorrow" pitchFamily="34" charset="-122"/>
                <a:cs typeface="Tomorrow" pitchFamily="34" charset="-120"/>
              </a:rPr>
              <a:t>D.Rusu</a:t>
            </a:r>
            <a:r>
              <a:rPr lang="en-US" sz="1750" dirty="0">
                <a:solidFill>
                  <a:srgbClr val="61615C"/>
                </a:solidFill>
                <a:latin typeface="Tomorrow" pitchFamily="34" charset="0"/>
                <a:ea typeface="Tomorrow" pitchFamily="34" charset="-122"/>
                <a:cs typeface="Tomorrow" pitchFamily="34" charset="-120"/>
              </a:rPr>
              <a:t>, A. A. </a:t>
            </a:r>
            <a:r>
              <a:rPr lang="en-US" sz="1750" dirty="0" err="1">
                <a:solidFill>
                  <a:srgbClr val="61615C"/>
                </a:solidFill>
                <a:latin typeface="Tomorrow" pitchFamily="34" charset="0"/>
                <a:ea typeface="Tomorrow" pitchFamily="34" charset="-122"/>
                <a:cs typeface="Tomorrow" pitchFamily="34" charset="-120"/>
              </a:rPr>
              <a:t>Veness</a:t>
            </a:r>
            <a:r>
              <a:rPr lang="en-US" sz="1750" dirty="0">
                <a:solidFill>
                  <a:srgbClr val="61615C"/>
                </a:solidFill>
                <a:latin typeface="Tomorrow" pitchFamily="34" charset="0"/>
                <a:ea typeface="Tomorrow" pitchFamily="34" charset="-122"/>
                <a:cs typeface="Tomorrow" pitchFamily="34" charset="-120"/>
              </a:rPr>
              <a:t>, </a:t>
            </a:r>
            <a:endParaRPr lang="en-US" sz="1750" dirty="0">
              <a:solidFill>
                <a:srgbClr val="61615C"/>
              </a:solidFill>
              <a:latin typeface="Tomorrow" pitchFamily="34" charset="0"/>
              <a:ea typeface="Tomorrow" pitchFamily="34" charset="-122"/>
              <a:cs typeface="Tomorrow" pitchFamily="34" charset="-120"/>
            </a:endParaRPr>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J., Bellemare, M. G &amp; Petersen, S. (2015). </a:t>
            </a:r>
            <a:endParaRPr lang="en-US" sz="1750" dirty="0"/>
          </a:p>
        </p:txBody>
      </p:sp>
      <p:sp>
        <p:nvSpPr>
          <p:cNvPr id="6" name="Text 3"/>
          <p:cNvSpPr/>
          <p:nvPr/>
        </p:nvSpPr>
        <p:spPr>
          <a:xfrm>
            <a:off x="6280190" y="5081468"/>
            <a:ext cx="7556421" cy="1088708"/>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Proximal policy optimization algorithms by Schulman, J. Wolski, F. </a:t>
            </a:r>
            <a:r>
              <a:rPr lang="en-US" sz="1750" dirty="0" err="1">
                <a:solidFill>
                  <a:srgbClr val="61615C"/>
                </a:solidFill>
                <a:latin typeface="Tomorrow" pitchFamily="34" charset="0"/>
                <a:ea typeface="Tomorrow" pitchFamily="34" charset="-122"/>
                <a:cs typeface="Tomorrow" pitchFamily="34" charset="-120"/>
              </a:rPr>
              <a:t>Dhariwal</a:t>
            </a:r>
            <a:r>
              <a:rPr lang="en-US" sz="1750" dirty="0">
                <a:solidFill>
                  <a:srgbClr val="61615C"/>
                </a:solidFill>
                <a:latin typeface="Tomorrow" pitchFamily="34" charset="0"/>
                <a:ea typeface="Tomorrow" pitchFamily="34" charset="-122"/>
                <a:cs typeface="Tomorrow" pitchFamily="34" charset="-120"/>
              </a:rPr>
              <a:t>, P. Radford, A. &amp; </a:t>
            </a:r>
            <a:r>
              <a:rPr lang="en-US" sz="1750" dirty="0" err="1">
                <a:solidFill>
                  <a:srgbClr val="61615C"/>
                </a:solidFill>
                <a:latin typeface="Tomorrow" pitchFamily="34" charset="0"/>
                <a:ea typeface="Tomorrow" pitchFamily="34" charset="-122"/>
                <a:cs typeface="Tomorrow" pitchFamily="34" charset="-120"/>
              </a:rPr>
              <a:t>Klimov</a:t>
            </a:r>
            <a:r>
              <a:rPr lang="en-US" sz="1750" dirty="0">
                <a:solidFill>
                  <a:srgbClr val="61615C"/>
                </a:solidFill>
                <a:latin typeface="Tomorrow" pitchFamily="34" charset="0"/>
                <a:ea typeface="Tomorrow" pitchFamily="34" charset="-122"/>
                <a:cs typeface="Tomorrow" pitchFamily="34" charset="-120"/>
              </a:rPr>
              <a:t>, O. (2017). </a:t>
            </a:r>
            <a:endParaRPr lang="en-US" sz="1750" dirty="0"/>
          </a:p>
        </p:txBody>
      </p:sp>
      <p:sp>
        <p:nvSpPr>
          <p:cNvPr id="7" name="Rectangles 6"/>
          <p:cNvSpPr/>
          <p:nvPr/>
        </p:nvSpPr>
        <p:spPr>
          <a:xfrm>
            <a:off x="11950700" y="7660640"/>
            <a:ext cx="2551430" cy="56896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tags/tag1.xml><?xml version="1.0" encoding="utf-8"?>
<p:tagLst xmlns:p="http://schemas.openxmlformats.org/presentationml/2006/main">
  <p:tag name="TABLE_ENDDRAG_ORIGIN_RECT" val="939*481"/>
  <p:tag name="TABLE_ENDDRAG_RECT" val="172*137*939*4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4652</Words>
  <Application>WPS Presentation</Application>
  <PresentationFormat>Custom</PresentationFormat>
  <Paragraphs>189</Paragraphs>
  <Slides>11</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Times New Roman</vt:lpstr>
      <vt:lpstr>Tomorrow Semi Bold</vt:lpstr>
      <vt:lpstr>Tomorrow Semi Bold</vt:lpstr>
      <vt:lpstr>Tomorrow Semi Bold</vt:lpstr>
      <vt:lpstr>Tomorrow</vt:lpstr>
      <vt:lpstr>Tomorrow</vt:lpstr>
      <vt:lpstr>Tomorrow</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Siddhant Parjane</cp:lastModifiedBy>
  <cp:revision>6</cp:revision>
  <dcterms:created xsi:type="dcterms:W3CDTF">2024-10-24T06:53:00Z</dcterms:created>
  <dcterms:modified xsi:type="dcterms:W3CDTF">2024-10-24T10:01:53Z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95F3DB5DC97C40E18C12BA92E1CE8EA6_12</vt:lpwstr>
  </property>
  <property fmtid="{D5CDD505-2E9C-101B-9397-08002B2CF9AE}" pid="3" name="KSOProductBuildVer">
    <vt:lpwstr>1033-12.2.0.18283</vt:lpwstr>
  </property>
</Properties>
</file>