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8" r:id="rId5"/>
    <p:sldId id="260" r:id="rId6"/>
    <p:sldId id="277" r:id="rId7"/>
    <p:sldId id="279" r:id="rId8"/>
    <p:sldId id="264" r:id="rId9"/>
    <p:sldId id="265" r:id="rId10"/>
    <p:sldId id="270" r:id="rId12"/>
    <p:sldId id="273" r:id="rId13"/>
    <p:sldId id="274" r:id="rId14"/>
    <p:sldId id="272" r:id="rId15"/>
    <p:sldId id="275"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90500" y="276860"/>
            <a:ext cx="9269095" cy="1470025"/>
          </a:xfrm>
        </p:spPr>
        <p:txBody>
          <a:bodyPr/>
          <a:p>
            <a:r>
              <a:rPr lang="en-IN" altLang="en-US">
                <a:latin typeface="Berlin Sans FB Demi" panose="020E0802020502020306" charset="0"/>
                <a:cs typeface="Berlin Sans FB Demi" panose="020E0802020502020306" charset="0"/>
              </a:rPr>
              <a:t>SANJIVANI UNIVERSITY</a:t>
            </a:r>
            <a:br>
              <a:rPr lang="en-IN" altLang="en-US">
                <a:latin typeface="Berlin Sans FB Demi" panose="020E0802020502020306" charset="0"/>
                <a:cs typeface="Berlin Sans FB Demi" panose="020E0802020502020306" charset="0"/>
              </a:rPr>
            </a:br>
            <a:r>
              <a:rPr lang="en-IN" altLang="en-US">
                <a:latin typeface="Berlin Sans FB Demi" panose="020E0802020502020306" charset="0"/>
                <a:cs typeface="Berlin Sans FB Demi" panose="020E0802020502020306" charset="0"/>
              </a:rPr>
              <a:t>SANJIVANI GROUP OF INSITUTIES</a:t>
            </a:r>
            <a:endParaRPr lang="en-IN" altLang="en-US">
              <a:latin typeface="Berlin Sans FB Demi" panose="020E0802020502020306" charset="0"/>
              <a:cs typeface="Berlin Sans FB Demi" panose="020E0802020502020306" charset="0"/>
            </a:endParaRPr>
          </a:p>
        </p:txBody>
      </p:sp>
      <p:sp>
        <p:nvSpPr>
          <p:cNvPr id="3" name="Subtitle 2"/>
          <p:cNvSpPr>
            <a:spLocks noGrp="1"/>
          </p:cNvSpPr>
          <p:nvPr>
            <p:ph type="subTitle" idx="1"/>
          </p:nvPr>
        </p:nvSpPr>
        <p:spPr>
          <a:xfrm>
            <a:off x="2006600" y="2230120"/>
            <a:ext cx="6620510" cy="2549525"/>
          </a:xfrm>
        </p:spPr>
        <p:txBody>
          <a:bodyPr/>
          <a:p>
            <a:r>
              <a:rPr lang="en-IN" altLang="en-US" sz="1800"/>
              <a:t>PRESENTAION ON:-</a:t>
            </a:r>
            <a:endParaRPr lang="en-IN" altLang="en-US" sz="1800"/>
          </a:p>
          <a:p>
            <a:r>
              <a:rPr lang="en-US" b="1">
                <a:sym typeface="+mn-ea"/>
              </a:rPr>
              <a:t>Digital forensics</a:t>
            </a:r>
            <a:endParaRPr lang="en-IN" altLang="en-US"/>
          </a:p>
          <a:p>
            <a:endParaRPr lang="en-IN" altLang="en-US"/>
          </a:p>
        </p:txBody>
      </p:sp>
      <p:pic>
        <p:nvPicPr>
          <p:cNvPr id="4" name="Picture 3" descr="1715147584php5AJT5c"/>
          <p:cNvPicPr>
            <a:picLocks noChangeAspect="1"/>
          </p:cNvPicPr>
          <p:nvPr/>
        </p:nvPicPr>
        <p:blipFill>
          <a:blip r:embed="rId1"/>
          <a:stretch>
            <a:fillRect/>
          </a:stretch>
        </p:blipFill>
        <p:spPr>
          <a:xfrm>
            <a:off x="9772650" y="182245"/>
            <a:ext cx="2095500" cy="2047875"/>
          </a:xfrm>
          <a:prstGeom prst="rect">
            <a:avLst/>
          </a:prstGeom>
        </p:spPr>
      </p:pic>
      <p:sp>
        <p:nvSpPr>
          <p:cNvPr id="6" name="Text Box 5"/>
          <p:cNvSpPr txBox="1"/>
          <p:nvPr/>
        </p:nvSpPr>
        <p:spPr>
          <a:xfrm>
            <a:off x="3150235" y="4157345"/>
            <a:ext cx="4064000" cy="728345"/>
          </a:xfrm>
          <a:prstGeom prst="rect">
            <a:avLst/>
          </a:prstGeom>
          <a:noFill/>
        </p:spPr>
        <p:txBody>
          <a:bodyPr wrap="square" rtlCol="0">
            <a:noAutofit/>
          </a:bodyPr>
          <a:p>
            <a:r>
              <a:rPr lang="en-IN" altLang="en-US"/>
              <a:t>Presentated By:</a:t>
            </a:r>
            <a:endParaRPr lang="en-IN" altLang="en-US"/>
          </a:p>
          <a:p>
            <a:r>
              <a:rPr lang="en-IN" altLang="en-US" sz="2000" b="1"/>
              <a:t>PARJANE SIDDHANT VILAS</a:t>
            </a:r>
            <a:endParaRPr lang="en-IN" altLang="en-US" sz="2000" b="1"/>
          </a:p>
          <a:p>
            <a:endParaRPr lang="en-IN" altLang="en-US" sz="2000" b="1"/>
          </a:p>
        </p:txBody>
      </p:sp>
      <p:sp>
        <p:nvSpPr>
          <p:cNvPr id="7" name="Text Box 6"/>
          <p:cNvSpPr txBox="1"/>
          <p:nvPr/>
        </p:nvSpPr>
        <p:spPr>
          <a:xfrm>
            <a:off x="328295" y="5441950"/>
            <a:ext cx="6716395" cy="1089025"/>
          </a:xfrm>
          <a:prstGeom prst="rect">
            <a:avLst/>
          </a:prstGeom>
          <a:noFill/>
        </p:spPr>
        <p:txBody>
          <a:bodyPr wrap="square" rtlCol="0">
            <a:noAutofit/>
          </a:bodyPr>
          <a:p>
            <a:r>
              <a:rPr lang="en-IN" altLang="en-US"/>
              <a:t>GUIDED BY</a:t>
            </a:r>
            <a:r>
              <a:rPr lang="en-IN" altLang="en-US" b="1"/>
              <a:t>:PROF. </a:t>
            </a:r>
            <a:r>
              <a:rPr lang="en-IN" altLang="en-US" sz="2000" b="1"/>
              <a:t>CHAITANYA KALE</a:t>
            </a:r>
            <a:endParaRPr lang="en-IN" altLang="en-US" sz="2000" b="1"/>
          </a:p>
          <a:p>
            <a:r>
              <a:rPr lang="en-IN" altLang="en-US" sz="2000"/>
              <a:t>HOD: </a:t>
            </a:r>
            <a:r>
              <a:rPr lang="en-IN" altLang="en-US" sz="2000" b="1"/>
              <a:t>DR. K. VENGATENSAN</a:t>
            </a:r>
            <a:endParaRPr lang="en-IN" altLang="en-US" sz="2000" b="1"/>
          </a:p>
          <a:p>
            <a:endParaRPr lang="en-IN" altLang="en-US" sz="20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7BD3"/>
            </a:gs>
            <a:gs pos="100000">
              <a:srgbClr val="034373"/>
            </a:gs>
          </a:gsLst>
          <a:lin ang="5400000" scaled="0"/>
        </a:gradFill>
        <a:effectLst/>
      </p:bgPr>
    </p:bg>
    <p:spTree>
      <p:nvGrpSpPr>
        <p:cNvPr id="1" name=""/>
        <p:cNvGrpSpPr/>
        <p:nvPr/>
      </p:nvGrpSpPr>
      <p:grpSpPr/>
      <p:pic>
        <p:nvPicPr>
          <p:cNvPr id="8" name="Picture 7" descr="th"/>
          <p:cNvPicPr>
            <a:picLocks noChangeAspect="1"/>
          </p:cNvPicPr>
          <p:nvPr/>
        </p:nvPicPr>
        <p:blipFill>
          <a:blip r:embed="rId1"/>
          <a:stretch>
            <a:fillRect/>
          </a:stretch>
        </p:blipFill>
        <p:spPr>
          <a:xfrm>
            <a:off x="0" y="-635"/>
            <a:ext cx="12192000" cy="6858635"/>
          </a:xfrm>
          <a:prstGeom prst="rect">
            <a:avLst/>
          </a:prstGeom>
        </p:spPr>
      </p:pic>
      <p:sp>
        <p:nvSpPr>
          <p:cNvPr id="2" name="Title 1"/>
          <p:cNvSpPr>
            <a:spLocks noGrp="1"/>
          </p:cNvSpPr>
          <p:nvPr>
            <p:ph type="title"/>
          </p:nvPr>
        </p:nvSpPr>
        <p:spPr>
          <a:xfrm>
            <a:off x="838200" y="365125"/>
            <a:ext cx="10515600" cy="855345"/>
          </a:xfrm>
        </p:spPr>
        <p:txBody>
          <a:bodyPr/>
          <a:p>
            <a:pPr algn="ctr"/>
            <a:r>
              <a:rPr lang="en-IN" altLang="en-US" b="1"/>
              <a:t>Content</a:t>
            </a:r>
            <a:endParaRPr lang="en-IN" altLang="en-US" b="1"/>
          </a:p>
        </p:txBody>
      </p:sp>
      <p:sp>
        <p:nvSpPr>
          <p:cNvPr id="3" name="Content Placeholder 2"/>
          <p:cNvSpPr/>
          <p:nvPr>
            <p:ph idx="1"/>
          </p:nvPr>
        </p:nvSpPr>
        <p:spPr/>
        <p:txBody>
          <a:bodyPr/>
          <a:p>
            <a:r>
              <a:rPr lang="en-US" sz="2000"/>
              <a:t>Introduction</a:t>
            </a:r>
            <a:endParaRPr lang="en-US" sz="2000"/>
          </a:p>
          <a:p>
            <a:r>
              <a:rPr lang="en-US" sz="2000"/>
              <a:t>Literature Survey</a:t>
            </a:r>
            <a:endParaRPr lang="en-US" sz="2000"/>
          </a:p>
          <a:p>
            <a:r>
              <a:rPr lang="en-US" sz="2000"/>
              <a:t>Objective and scope</a:t>
            </a:r>
            <a:endParaRPr lang="en-US" sz="2000"/>
          </a:p>
          <a:p>
            <a:r>
              <a:rPr lang="en-US" sz="2000"/>
              <a:t>Real time Application </a:t>
            </a:r>
            <a:endParaRPr lang="en-US" sz="2000"/>
          </a:p>
          <a:p>
            <a:r>
              <a:rPr lang="en-US" sz="2000"/>
              <a:t>Advantages &amp; Disadvantages</a:t>
            </a:r>
            <a:endParaRPr lang="en-US" sz="2000"/>
          </a:p>
          <a:p>
            <a:r>
              <a:rPr lang="en-US" sz="2000"/>
              <a:t>System Architecture </a:t>
            </a:r>
            <a:endParaRPr lang="en-US" sz="2000"/>
          </a:p>
          <a:p>
            <a:r>
              <a:rPr lang="en-US" sz="2000"/>
              <a:t>Methodology</a:t>
            </a:r>
            <a:endParaRPr lang="en-US" sz="2000"/>
          </a:p>
          <a:p>
            <a:r>
              <a:rPr lang="en-US" sz="2000"/>
              <a:t>Existing System</a:t>
            </a:r>
            <a:endParaRPr lang="en-US" sz="2000"/>
          </a:p>
          <a:p>
            <a:r>
              <a:rPr lang="en-US" sz="2000"/>
              <a:t>Conclusion</a:t>
            </a:r>
            <a:endParaRPr lang="en-US" sz="2000"/>
          </a:p>
          <a:p>
            <a:r>
              <a:rPr lang="en-US" sz="2000"/>
              <a:t>Reference</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2)"/>
          <p:cNvPicPr>
            <a:picLocks noChangeAspect="1"/>
          </p:cNvPicPr>
          <p:nvPr/>
        </p:nvPicPr>
        <p:blipFill>
          <a:blip r:embed="rId1"/>
          <a:stretch>
            <a:fillRect/>
          </a:stretch>
        </p:blipFill>
        <p:spPr>
          <a:xfrm>
            <a:off x="0" y="635"/>
            <a:ext cx="12192635" cy="6857365"/>
          </a:xfrm>
          <a:prstGeom prst="rect">
            <a:avLst/>
          </a:prstGeom>
        </p:spPr>
      </p:pic>
      <p:sp>
        <p:nvSpPr>
          <p:cNvPr id="3" name="Content Placeholder 2"/>
          <p:cNvSpPr>
            <a:spLocks noGrp="1"/>
          </p:cNvSpPr>
          <p:nvPr>
            <p:ph idx="1"/>
          </p:nvPr>
        </p:nvSpPr>
        <p:spPr>
          <a:xfrm>
            <a:off x="558165" y="1417955"/>
            <a:ext cx="7471410" cy="5069205"/>
          </a:xfrm>
        </p:spPr>
        <p:txBody>
          <a:bodyPr/>
          <a:p>
            <a:r>
              <a:rPr lang="en-US" sz="2000"/>
              <a:t>Digital forensics is the process of recovering, preserving, and analyzing data from digital devices to investigate cybercrimes and other digital incidents. It involves the use of specialized techniques to collect evidence from computers, smartphones, networks, and other electronic devices, ensuring that the information is handled in a way that maintains its integrity and admissibility in legal contexts. Digital forensics plays a crucial role in law enforcement, corporate investigations, and cybersecurity, helping to uncover unauthorized access, data breaches, and various forms of digital misconduct.</a:t>
            </a:r>
            <a:endParaRPr lang="en-US" sz="2000"/>
          </a:p>
          <a:p>
            <a:r>
              <a:rPr lang="en-US" sz="2000"/>
              <a:t>In addition to investigating crimes, digital forensics is also essential for incident response and risk management in organizations, as it helps identify vulnerabilities, assess damage, and develop strategies to prevent future breaches.</a:t>
            </a:r>
            <a:endParaRPr lang="en-US" sz="2000"/>
          </a:p>
          <a:p>
            <a:endParaRPr lang="en-US" sz="2000"/>
          </a:p>
          <a:p>
            <a:endParaRPr lang="en-US" sz="2000"/>
          </a:p>
          <a:p>
            <a:endParaRPr lang="en-US" sz="2000"/>
          </a:p>
          <a:p>
            <a:endParaRPr lang="en-US" sz="1600"/>
          </a:p>
          <a:p>
            <a:endParaRPr lang="en-US" sz="1600"/>
          </a:p>
          <a:p>
            <a:endParaRPr lang="en-US" sz="1600"/>
          </a:p>
          <a:p>
            <a:endParaRPr lang="en-US" sz="1600"/>
          </a:p>
        </p:txBody>
      </p:sp>
      <p:sp>
        <p:nvSpPr>
          <p:cNvPr id="2" name="Title 1"/>
          <p:cNvSpPr>
            <a:spLocks noGrp="1"/>
          </p:cNvSpPr>
          <p:nvPr>
            <p:ph type="title"/>
          </p:nvPr>
        </p:nvSpPr>
        <p:spPr/>
        <p:txBody>
          <a:bodyPr/>
          <a:p>
            <a:r>
              <a:rPr lang="en-IN" altLang="en-US"/>
              <a:t>INTRODUCTION</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2)"/>
          <p:cNvPicPr>
            <a:picLocks noChangeAspect="1"/>
          </p:cNvPicPr>
          <p:nvPr/>
        </p:nvPicPr>
        <p:blipFill>
          <a:blip r:embed="rId1"/>
          <a:stretch>
            <a:fillRect/>
          </a:stretch>
        </p:blipFill>
        <p:spPr>
          <a:xfrm>
            <a:off x="-635" y="-635"/>
            <a:ext cx="12193270" cy="6858635"/>
          </a:xfrm>
          <a:prstGeom prst="rect">
            <a:avLst/>
          </a:prstGeom>
        </p:spPr>
      </p:pic>
      <p:sp>
        <p:nvSpPr>
          <p:cNvPr id="2" name="Title 1"/>
          <p:cNvSpPr>
            <a:spLocks noGrp="1"/>
          </p:cNvSpPr>
          <p:nvPr>
            <p:ph type="title"/>
          </p:nvPr>
        </p:nvSpPr>
        <p:spPr/>
        <p:txBody>
          <a:bodyPr/>
          <a:p>
            <a:r>
              <a:rPr lang="en-IN" altLang="en-US"/>
              <a:t>ABSTRACT</a:t>
            </a:r>
            <a:endParaRPr lang="en-IN" altLang="en-US"/>
          </a:p>
        </p:txBody>
      </p:sp>
      <p:sp>
        <p:nvSpPr>
          <p:cNvPr id="3" name="Content Placeholder 2"/>
          <p:cNvSpPr>
            <a:spLocks noGrp="1"/>
          </p:cNvSpPr>
          <p:nvPr>
            <p:ph idx="1"/>
          </p:nvPr>
        </p:nvSpPr>
        <p:spPr>
          <a:xfrm>
            <a:off x="609600" y="1600200"/>
            <a:ext cx="5838825" cy="4526280"/>
          </a:xfrm>
        </p:spPr>
        <p:txBody>
          <a:bodyPr/>
          <a:p>
            <a:r>
              <a:rPr lang="en-US" sz="1800" b="1"/>
              <a:t>Digital forensics is a specialized field focused on the identification, preservation, analysis, and presentation of digital evidence in legal and investigative contexts. It encompasses the recovery of data from computers, mobile devices, and networks, providing critical insights into cybercrimes and data breaches. This discipline not only aids law enforcement in criminal investigations but also supports organizations in managing cybersecurity incidents and enhancing their defenses. By employing rigorous methodologies, digital forensics ensures that evidence is collected and handled properly, maintaining its integrity for potential use in court.</a:t>
            </a:r>
            <a:endParaRPr lang="en-US" sz="18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Literature Survey</a:t>
            </a:r>
            <a:endParaRPr lang="en-US"/>
          </a:p>
        </p:txBody>
      </p:sp>
      <p:graphicFrame>
        <p:nvGraphicFramePr>
          <p:cNvPr id="4" name="Content Placeholder 3"/>
          <p:cNvGraphicFramePr/>
          <p:nvPr>
            <p:ph idx="1"/>
            <p:custDataLst>
              <p:tags r:id="rId1"/>
            </p:custDataLst>
          </p:nvPr>
        </p:nvGraphicFramePr>
        <p:xfrm>
          <a:off x="609600" y="1600200"/>
          <a:ext cx="10972800" cy="4389755"/>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15290">
                <a:tc>
                  <a:txBody>
                    <a:bodyPr/>
                    <a:p>
                      <a:pPr>
                        <a:buNone/>
                      </a:pPr>
                      <a:r>
                        <a:rPr lang="en-IN" altLang="en-US"/>
                        <a:t>PAPER TITLE</a:t>
                      </a:r>
                      <a:endParaRPr lang="en-IN" altLang="en-US"/>
                    </a:p>
                  </a:txBody>
                  <a:tcPr/>
                </a:tc>
                <a:tc>
                  <a:txBody>
                    <a:bodyPr/>
                    <a:p>
                      <a:pPr>
                        <a:buNone/>
                      </a:pPr>
                      <a:r>
                        <a:rPr lang="en-IN" altLang="en-US"/>
                        <a:t>AUTHOR</a:t>
                      </a:r>
                      <a:endParaRPr lang="en-IN" altLang="en-US"/>
                    </a:p>
                  </a:txBody>
                  <a:tcPr/>
                </a:tc>
                <a:tc>
                  <a:txBody>
                    <a:bodyPr/>
                    <a:p>
                      <a:pPr>
                        <a:buNone/>
                      </a:pPr>
                      <a:r>
                        <a:rPr lang="en-IN" altLang="en-US"/>
                        <a:t>PUBLICATION </a:t>
                      </a:r>
                      <a:endParaRPr lang="en-IN" altLang="en-US"/>
                    </a:p>
                  </a:txBody>
                  <a:tcPr/>
                </a:tc>
                <a:tc>
                  <a:txBody>
                    <a:bodyPr/>
                    <a:p>
                      <a:pPr>
                        <a:buNone/>
                      </a:pPr>
                      <a:r>
                        <a:rPr lang="en-IN" altLang="en-US" sz="1800">
                          <a:sym typeface="+mn-ea"/>
                        </a:rPr>
                        <a:t>PUBLICATION DATE</a:t>
                      </a:r>
                      <a:endParaRPr lang="en-IN" altLang="en-US" sz="1800"/>
                    </a:p>
                    <a:p>
                      <a:pPr>
                        <a:buNone/>
                      </a:pPr>
                      <a:endParaRPr lang="en-US"/>
                    </a:p>
                  </a:txBody>
                  <a:tcPr/>
                </a:tc>
                <a:tc>
                  <a:txBody>
                    <a:bodyPr/>
                    <a:p>
                      <a:pPr>
                        <a:buNone/>
                      </a:pPr>
                      <a:r>
                        <a:rPr lang="en-IN" altLang="en-US"/>
                        <a:t>FINDINGS</a:t>
                      </a:r>
                      <a:endParaRPr lang="en-IN" altLang="en-US"/>
                    </a:p>
                  </a:txBody>
                  <a:tcPr/>
                </a:tc>
              </a:tr>
              <a:tr h="3974465">
                <a:tc>
                  <a:txBody>
                    <a:bodyPr/>
                    <a:p>
                      <a:pPr>
                        <a:buNone/>
                      </a:pPr>
                      <a:endParaRPr lang="en-US"/>
                    </a:p>
                    <a:p>
                      <a:pPr>
                        <a:buNone/>
                      </a:pPr>
                      <a:r>
                        <a:rPr lang="en-US"/>
                        <a:t>"A Survey of Digital Forensics: Approaches and Challenges"</a:t>
                      </a:r>
                      <a:endParaRPr lang="en-US"/>
                    </a:p>
                  </a:txBody>
                  <a:tcPr/>
                </a:tc>
                <a:tc>
                  <a:txBody>
                    <a:bodyPr/>
                    <a:p>
                      <a:pPr>
                        <a:buNone/>
                      </a:pPr>
                      <a:r>
                        <a:rPr lang="en-US"/>
                        <a:t> A. A. A. M. Alahmadi, J. Alhazmi</a:t>
                      </a:r>
                      <a:endParaRPr lang="en-US"/>
                    </a:p>
                  </a:txBody>
                  <a:tcPr/>
                </a:tc>
                <a:tc>
                  <a:txBody>
                    <a:bodyPr/>
                    <a:p>
                      <a:pPr>
                        <a:buNone/>
                      </a:pPr>
                      <a:r>
                        <a:rPr lang="en-US"/>
                        <a:t>International Journal of Computer Applications</a:t>
                      </a:r>
                      <a:endParaRPr lang="en-US"/>
                    </a:p>
                  </a:txBody>
                  <a:tcPr/>
                </a:tc>
                <a:tc>
                  <a:txBody>
                    <a:bodyPr/>
                    <a:p>
                      <a:pPr>
                        <a:buNone/>
                      </a:pPr>
                      <a:r>
                        <a:rPr lang="en-IN" altLang="en-US"/>
                        <a:t>2015</a:t>
                      </a:r>
                      <a:endParaRPr lang="en-IN" altLang="en-US"/>
                    </a:p>
                  </a:txBody>
                  <a:tcPr/>
                </a:tc>
                <a:tc>
                  <a:txBody>
                    <a:bodyPr/>
                    <a:p>
                      <a:pPr>
                        <a:buNone/>
                      </a:pPr>
                      <a:r>
                        <a:rPr lang="en-US"/>
                        <a:t>This survey discusses various methodologies in digital forensics, identifies key challenges in the field, and emphasizes the need for standardized practices and tools.</a:t>
                      </a:r>
                      <a:endParaRPr lang="en-US"/>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Literature Survey</a:t>
            </a:r>
            <a:endParaRPr lang="en-US"/>
          </a:p>
        </p:txBody>
      </p:sp>
      <p:graphicFrame>
        <p:nvGraphicFramePr>
          <p:cNvPr id="4" name="Content Placeholder 3"/>
          <p:cNvGraphicFramePr/>
          <p:nvPr>
            <p:ph idx="1"/>
            <p:custDataLst>
              <p:tags r:id="rId1"/>
            </p:custDataLst>
          </p:nvPr>
        </p:nvGraphicFramePr>
        <p:xfrm>
          <a:off x="609600" y="1165860"/>
          <a:ext cx="10972800" cy="5323205"/>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995680">
                <a:tc>
                  <a:txBody>
                    <a:bodyPr/>
                    <a:p>
                      <a:pPr>
                        <a:buNone/>
                      </a:pPr>
                      <a:r>
                        <a:rPr lang="en-IN" altLang="en-US"/>
                        <a:t>PAPER TITLE</a:t>
                      </a:r>
                      <a:endParaRPr lang="en-IN" altLang="en-US"/>
                    </a:p>
                  </a:txBody>
                  <a:tcPr/>
                </a:tc>
                <a:tc>
                  <a:txBody>
                    <a:bodyPr/>
                    <a:p>
                      <a:pPr>
                        <a:buNone/>
                      </a:pPr>
                      <a:r>
                        <a:rPr lang="en-IN" altLang="en-US"/>
                        <a:t>AUTHOR</a:t>
                      </a:r>
                      <a:endParaRPr lang="en-IN" altLang="en-US"/>
                    </a:p>
                  </a:txBody>
                  <a:tcPr/>
                </a:tc>
                <a:tc>
                  <a:txBody>
                    <a:bodyPr/>
                    <a:p>
                      <a:pPr>
                        <a:buNone/>
                      </a:pPr>
                      <a:r>
                        <a:rPr lang="en-IN" altLang="en-US"/>
                        <a:t>PUBLICATION </a:t>
                      </a:r>
                      <a:endParaRPr lang="en-IN" altLang="en-US"/>
                    </a:p>
                  </a:txBody>
                  <a:tcPr/>
                </a:tc>
                <a:tc>
                  <a:txBody>
                    <a:bodyPr/>
                    <a:p>
                      <a:pPr>
                        <a:buNone/>
                      </a:pPr>
                      <a:r>
                        <a:rPr lang="en-IN" altLang="en-US" sz="1800">
                          <a:sym typeface="+mn-ea"/>
                        </a:rPr>
                        <a:t>PUBLICATION DATE</a:t>
                      </a:r>
                      <a:endParaRPr lang="en-IN" altLang="en-US" sz="1800"/>
                    </a:p>
                    <a:p>
                      <a:pPr>
                        <a:buNone/>
                      </a:pPr>
                      <a:endParaRPr lang="en-US"/>
                    </a:p>
                  </a:txBody>
                  <a:tcPr/>
                </a:tc>
                <a:tc>
                  <a:txBody>
                    <a:bodyPr/>
                    <a:p>
                      <a:pPr>
                        <a:buNone/>
                      </a:pPr>
                      <a:r>
                        <a:rPr lang="en-IN" altLang="en-US"/>
                        <a:t>FINDINGS</a:t>
                      </a:r>
                      <a:endParaRPr lang="en-IN" altLang="en-US"/>
                    </a:p>
                  </a:txBody>
                  <a:tcPr/>
                </a:tc>
              </a:tr>
              <a:tr h="4327525">
                <a:tc>
                  <a:txBody>
                    <a:bodyPr/>
                    <a:p>
                      <a:pPr>
                        <a:buNone/>
                      </a:pPr>
                      <a:endParaRPr lang="en-US"/>
                    </a:p>
                    <a:p>
                      <a:pPr>
                        <a:buNone/>
                      </a:pPr>
                      <a:r>
                        <a:rPr lang="en-US"/>
                        <a:t>"Digital Forensics: Principles and Practice"</a:t>
                      </a:r>
                      <a:endParaRPr lang="en-US"/>
                    </a:p>
                  </a:txBody>
                  <a:tcPr/>
                </a:tc>
                <a:tc>
                  <a:txBody>
                    <a:bodyPr/>
                    <a:p>
                      <a:pPr>
                        <a:buNone/>
                      </a:pPr>
                      <a:r>
                        <a:rPr lang="en-US"/>
                        <a:t>  Eoghan Casey</a:t>
                      </a:r>
                      <a:endParaRPr lang="en-US"/>
                    </a:p>
                  </a:txBody>
                  <a:tcPr/>
                </a:tc>
                <a:tc>
                  <a:txBody>
                    <a:bodyPr/>
                    <a:p>
                      <a:pPr>
                        <a:buNone/>
                      </a:pPr>
                      <a:r>
                        <a:rPr lang="en-US"/>
                        <a:t>Morgan Kaufmann</a:t>
                      </a:r>
                      <a:endParaRPr lang="en-US"/>
                    </a:p>
                  </a:txBody>
                  <a:tcPr/>
                </a:tc>
                <a:tc>
                  <a:txBody>
                    <a:bodyPr/>
                    <a:p>
                      <a:pPr>
                        <a:buNone/>
                      </a:pPr>
                      <a:r>
                        <a:rPr lang="en-IN" altLang="en-US"/>
                        <a:t>2011</a:t>
                      </a:r>
                      <a:endParaRPr lang="en-IN" altLang="en-US"/>
                    </a:p>
                  </a:txBody>
                  <a:tcPr/>
                </a:tc>
                <a:tc>
                  <a:txBody>
                    <a:bodyPr/>
                    <a:p>
                      <a:pPr>
                        <a:buNone/>
                      </a:pPr>
                      <a:r>
                        <a:rPr lang="en-US"/>
                        <a:t>This book provides a comprehensive overview of digital forensics, including the principles, tools, and techniques essential for effective investigations. It highlights the integration of forensic practices with legal frameworks..</a:t>
                      </a:r>
                      <a:endParaRPr 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1)"/>
          <p:cNvPicPr>
            <a:picLocks noChangeAspect="1"/>
          </p:cNvPicPr>
          <p:nvPr/>
        </p:nvPicPr>
        <p:blipFill>
          <a:blip r:embed="rId1"/>
          <a:srcRect l="-875" r="875" b="37590"/>
          <a:stretch>
            <a:fillRect/>
          </a:stretch>
        </p:blipFill>
        <p:spPr>
          <a:xfrm>
            <a:off x="-121285" y="0"/>
            <a:ext cx="12313285" cy="6858000"/>
          </a:xfrm>
          <a:prstGeom prst="rect">
            <a:avLst/>
          </a:prstGeom>
        </p:spPr>
      </p:pic>
      <p:sp>
        <p:nvSpPr>
          <p:cNvPr id="2" name="Title 1"/>
          <p:cNvSpPr>
            <a:spLocks noGrp="1"/>
          </p:cNvSpPr>
          <p:nvPr>
            <p:ph type="title"/>
          </p:nvPr>
        </p:nvSpPr>
        <p:spPr/>
        <p:txBody>
          <a:bodyPr/>
          <a:p>
            <a:r>
              <a:rPr lang="en-IN" altLang="en-US"/>
              <a:t>OBJECTIVES</a:t>
            </a:r>
            <a:endParaRPr lang="en-IN" altLang="en-US"/>
          </a:p>
        </p:txBody>
      </p:sp>
      <p:sp>
        <p:nvSpPr>
          <p:cNvPr id="3" name="Content Placeholder 2"/>
          <p:cNvSpPr>
            <a:spLocks noGrp="1"/>
          </p:cNvSpPr>
          <p:nvPr>
            <p:ph idx="1"/>
          </p:nvPr>
        </p:nvSpPr>
        <p:spPr/>
        <p:txBody>
          <a:bodyPr/>
          <a:p>
            <a:r>
              <a:rPr lang="en-US" sz="2000" b="1"/>
              <a:t>Data Recovery: Retrieving lost or deleted data from digital devices.</a:t>
            </a:r>
            <a:endParaRPr lang="en-US" sz="2000" b="1"/>
          </a:p>
          <a:p>
            <a:r>
              <a:rPr lang="en-US" sz="2000" b="1"/>
              <a:t>Evidence Collection: Collecting digital evidence in a manner that maintains its integrity.</a:t>
            </a:r>
            <a:endParaRPr lang="en-US" sz="2000" b="1"/>
          </a:p>
          <a:p>
            <a:r>
              <a:rPr lang="en-US" sz="2000" b="1"/>
              <a:t>Analysis: Examining the data to uncover patterns, timelines, and user actions.</a:t>
            </a:r>
            <a:endParaRPr lang="en-US" sz="2000" b="1"/>
          </a:p>
          <a:p>
            <a:r>
              <a:rPr lang="en-US" sz="2000" b="1"/>
              <a:t>Incident Response: Assisting in the identification and mitigation of security breaches.</a:t>
            </a:r>
            <a:endParaRPr lang="en-US" sz="2000" b="1"/>
          </a:p>
          <a:p>
            <a:r>
              <a:rPr lang="en-US" sz="2000" b="1"/>
              <a:t>Legal Compliance: Ensuring that investigations adhere to legal standards and practices.</a:t>
            </a:r>
            <a:endParaRPr lang="en-US" sz="2000" b="1"/>
          </a:p>
          <a:p>
            <a:r>
              <a:rPr lang="en-US" sz="2000" b="1"/>
              <a:t>Reporting: Creating clear and comprehensive reports that can be used in legal proceedings.</a:t>
            </a:r>
            <a:endParaRPr lang="en-US" sz="20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th (3)"/>
          <p:cNvPicPr>
            <a:picLocks noChangeAspect="1"/>
          </p:cNvPicPr>
          <p:nvPr>
            <p:ph idx="1"/>
          </p:nvPr>
        </p:nvPicPr>
        <p:blipFill>
          <a:blip r:embed="rId1"/>
          <a:stretch>
            <a:fillRect/>
          </a:stretch>
        </p:blipFill>
        <p:spPr>
          <a:xfrm>
            <a:off x="0" y="0"/>
            <a:ext cx="12191365" cy="6858000"/>
          </a:xfrm>
          <a:prstGeom prst="rect">
            <a:avLst/>
          </a:prstGeom>
        </p:spPr>
      </p:pic>
      <p:sp>
        <p:nvSpPr>
          <p:cNvPr id="2" name="Title 1"/>
          <p:cNvSpPr>
            <a:spLocks noGrp="1"/>
          </p:cNvSpPr>
          <p:nvPr>
            <p:ph type="title"/>
          </p:nvPr>
        </p:nvSpPr>
        <p:spPr/>
        <p:txBody>
          <a:bodyPr/>
          <a:p>
            <a:r>
              <a:rPr lang="en-IN" altLang="en-US">
                <a:sym typeface="+mn-ea"/>
              </a:rPr>
              <a:t>REAL TIME APPLICATION</a:t>
            </a:r>
            <a:endParaRPr lang="en-US"/>
          </a:p>
        </p:txBody>
      </p:sp>
      <p:sp>
        <p:nvSpPr>
          <p:cNvPr id="5" name="Text Box 4"/>
          <p:cNvSpPr txBox="1"/>
          <p:nvPr/>
        </p:nvSpPr>
        <p:spPr>
          <a:xfrm>
            <a:off x="609600" y="1892935"/>
            <a:ext cx="10972800" cy="4457700"/>
          </a:xfrm>
          <a:prstGeom prst="rect">
            <a:avLst/>
          </a:prstGeom>
          <a:noFill/>
        </p:spPr>
        <p:txBody>
          <a:bodyPr wrap="square" rtlCol="0">
            <a:noAutofit/>
          </a:bodyPr>
          <a:p>
            <a:r>
              <a:rPr lang="en-IN" altLang="en-US" b="1"/>
              <a:t>Cybersecurity Incident Response</a:t>
            </a:r>
            <a:r>
              <a:rPr lang="en-IN" altLang="en-US"/>
              <a:t>: In the event of a cyberattack, digital forensics helps identify the breach's origin, assess damage, and prevent future incidents.</a:t>
            </a:r>
            <a:endParaRPr lang="en-IN" altLang="en-US"/>
          </a:p>
          <a:p>
            <a:endParaRPr lang="en-IN" altLang="en-US"/>
          </a:p>
          <a:p>
            <a:r>
              <a:rPr lang="en-IN" altLang="en-US" b="1"/>
              <a:t>Fraud Detection</a:t>
            </a:r>
            <a:r>
              <a:rPr lang="en-IN" altLang="en-US"/>
              <a:t>: Organizations use digital forensics to analyze transactions and uncover fraudulent activities in real-time, especially in financial institutions.</a:t>
            </a:r>
            <a:endParaRPr lang="en-IN" altLang="en-US"/>
          </a:p>
          <a:p>
            <a:endParaRPr lang="en-IN" altLang="en-US"/>
          </a:p>
          <a:p>
            <a:r>
              <a:rPr lang="en-IN" altLang="en-US" b="1"/>
              <a:t>Legal Investigations</a:t>
            </a:r>
            <a:r>
              <a:rPr lang="en-IN" altLang="en-US"/>
              <a:t>: Law enforcement agencies leverage digital forensics during active investigations to gather evidence from devices, networks, and cloud services.</a:t>
            </a:r>
            <a:endParaRPr lang="en-IN" altLang="en-US"/>
          </a:p>
          <a:p>
            <a:endParaRPr lang="en-IN" altLang="en-US"/>
          </a:p>
          <a:p>
            <a:r>
              <a:rPr lang="en-IN" altLang="en-US" b="1"/>
              <a:t>Data Breach Analysis</a:t>
            </a:r>
            <a:r>
              <a:rPr lang="en-IN" altLang="en-US"/>
              <a:t>: After a data breach, companies conduct forensic investigations to understand the breach's scope and mitigate risks immediately.</a:t>
            </a:r>
            <a:endParaRPr lang="en-IN" altLang="en-US"/>
          </a:p>
          <a:p>
            <a:endParaRPr lang="en-IN" altLang="en-US"/>
          </a:p>
          <a:p>
            <a:r>
              <a:rPr lang="en-IN" altLang="en-US" b="1"/>
              <a:t>Insider Threat Detection</a:t>
            </a:r>
            <a:r>
              <a:rPr lang="en-IN" altLang="en-US"/>
              <a:t>: Real-time monitoring of employee activities can help identify and mitigate potential insider threats before they escalate.</a:t>
            </a:r>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th (4)"/>
          <p:cNvPicPr>
            <a:picLocks noChangeAspect="1"/>
          </p:cNvPicPr>
          <p:nvPr>
            <p:ph idx="1"/>
          </p:nvPr>
        </p:nvPicPr>
        <p:blipFill>
          <a:blip r:embed="rId1"/>
          <a:stretch>
            <a:fillRect/>
          </a:stretch>
        </p:blipFill>
        <p:spPr>
          <a:xfrm>
            <a:off x="-635" y="0"/>
            <a:ext cx="12192635" cy="6857365"/>
          </a:xfrm>
          <a:prstGeom prst="rect">
            <a:avLst/>
          </a:prstGeom>
        </p:spPr>
      </p:pic>
      <p:sp>
        <p:nvSpPr>
          <p:cNvPr id="2" name="Title 1"/>
          <p:cNvSpPr>
            <a:spLocks noGrp="1"/>
          </p:cNvSpPr>
          <p:nvPr>
            <p:ph type="title"/>
          </p:nvPr>
        </p:nvSpPr>
        <p:spPr/>
        <p:txBody>
          <a:bodyPr/>
          <a:p>
            <a:r>
              <a:rPr lang="en-IN" altLang="en-US">
                <a:sym typeface="+mn-ea"/>
              </a:rPr>
              <a:t>ADVANTAGES &amp; DISADVANTAGES</a:t>
            </a:r>
            <a:endParaRPr lang="en-US"/>
          </a:p>
        </p:txBody>
      </p:sp>
      <p:sp>
        <p:nvSpPr>
          <p:cNvPr id="5" name="Text Box 4"/>
          <p:cNvSpPr txBox="1"/>
          <p:nvPr/>
        </p:nvSpPr>
        <p:spPr>
          <a:xfrm>
            <a:off x="638810" y="1250315"/>
            <a:ext cx="10883265" cy="5401310"/>
          </a:xfrm>
          <a:prstGeom prst="rect">
            <a:avLst/>
          </a:prstGeom>
          <a:noFill/>
        </p:spPr>
        <p:txBody>
          <a:bodyPr wrap="square" rtlCol="0">
            <a:noAutofit/>
          </a:bodyPr>
          <a:p>
            <a:r>
              <a:rPr lang="en-IN" altLang="en-US" sz="1600"/>
              <a:t>Rapid Evidence Collection: Digital forensics allows for the swift collection and preservation of electronic evidence, which can be crucial in investigations.</a:t>
            </a:r>
            <a:endParaRPr lang="en-IN" altLang="en-US" sz="1600"/>
          </a:p>
          <a:p>
            <a:endParaRPr lang="en-IN" altLang="en-US" sz="1600"/>
          </a:p>
          <a:p>
            <a:r>
              <a:rPr lang="en-IN" altLang="en-US" sz="1600"/>
              <a:t>Detailed Analysis: It enables in-depth analysis of digital devices, uncovering hidden data, deleted files, and user activity logs.</a:t>
            </a:r>
            <a:endParaRPr lang="en-IN" altLang="en-US" sz="1600"/>
          </a:p>
          <a:p>
            <a:endParaRPr lang="en-IN" altLang="en-US" sz="1600"/>
          </a:p>
          <a:p>
            <a:r>
              <a:rPr lang="en-IN" altLang="en-US" sz="1600"/>
              <a:t>Global Reach: Digital evidence can often be collected from remote locations, making it easier to investigate crimes that span different jurisdictions.</a:t>
            </a:r>
            <a:endParaRPr lang="en-IN" altLang="en-US" sz="1600"/>
          </a:p>
          <a:p>
            <a:endParaRPr lang="en-IN" altLang="en-US" sz="1600"/>
          </a:p>
          <a:p>
            <a:r>
              <a:rPr lang="en-IN" altLang="en-US" sz="1600"/>
              <a:t>Automation and Tools: Advanced software tools can automate various forensic processes, enhancing efficiency and accuracy</a:t>
            </a:r>
            <a:r>
              <a:rPr lang="en-IN" altLang="en-US" b="1"/>
              <a:t>.</a:t>
            </a:r>
            <a:endParaRPr lang="en-IN" altLang="en-US" b="1"/>
          </a:p>
          <a:p>
            <a:r>
              <a:rPr lang="en-IN" altLang="en-US" b="1"/>
              <a:t>Disadvantages</a:t>
            </a:r>
            <a:endParaRPr lang="en-IN" altLang="en-US" b="1"/>
          </a:p>
          <a:p>
            <a:r>
              <a:rPr lang="en-IN" altLang="en-US" sz="1600"/>
              <a:t>Complexity: The rapidly evolving nature of technology can make digital forensics complex and require continuous training and adaptation.</a:t>
            </a:r>
            <a:endParaRPr lang="en-IN" altLang="en-US" sz="1600"/>
          </a:p>
          <a:p>
            <a:endParaRPr lang="en-IN" altLang="en-US" sz="1600"/>
          </a:p>
          <a:p>
            <a:r>
              <a:rPr lang="en-IN" altLang="en-US" sz="1600"/>
              <a:t>Cost: High-quality forensic tools and expert personnel can be expensive, posing a financial burden for some organizations.</a:t>
            </a:r>
            <a:endParaRPr lang="en-IN" altLang="en-US" sz="1600"/>
          </a:p>
          <a:p>
            <a:endParaRPr lang="en-IN" altLang="en-US" sz="1600"/>
          </a:p>
          <a:p>
            <a:r>
              <a:rPr lang="en-IN" altLang="en-US" sz="1600"/>
              <a:t>Data Privacy Concerns: Investigations can raise ethical issues regarding privacy, especially when sensitive personal data is involved.</a:t>
            </a:r>
            <a:endParaRPr lang="en-I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System architecture</a:t>
            </a:r>
            <a:endParaRPr lang="en-IN" altLang="en-US"/>
          </a:p>
        </p:txBody>
      </p:sp>
      <p:sp>
        <p:nvSpPr>
          <p:cNvPr id="3" name="Content Placeholder 2"/>
          <p:cNvSpPr>
            <a:spLocks noGrp="1"/>
          </p:cNvSpPr>
          <p:nvPr>
            <p:ph idx="1"/>
          </p:nvPr>
        </p:nvSpPr>
        <p:spPr/>
        <p:txBody>
          <a:bodyPr/>
          <a:p>
            <a:endParaRPr lang="en-US"/>
          </a:p>
        </p:txBody>
      </p:sp>
      <p:pic>
        <p:nvPicPr>
          <p:cNvPr id="4" name="Picture 3" descr="arti"/>
          <p:cNvPicPr>
            <a:picLocks noChangeAspect="1"/>
          </p:cNvPicPr>
          <p:nvPr/>
        </p:nvPicPr>
        <p:blipFill>
          <a:blip r:embed="rId1"/>
          <a:stretch>
            <a:fillRect/>
          </a:stretch>
        </p:blipFill>
        <p:spPr>
          <a:xfrm>
            <a:off x="2366645" y="2037080"/>
            <a:ext cx="6809105" cy="4088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METHEDOLOGIES OF ALGORITHAMS</a:t>
            </a:r>
            <a:endParaRPr lang="en-IN" altLang="en-US"/>
          </a:p>
        </p:txBody>
      </p:sp>
      <p:sp>
        <p:nvSpPr>
          <p:cNvPr id="3" name="Content Placeholder 2"/>
          <p:cNvSpPr>
            <a:spLocks noGrp="1"/>
          </p:cNvSpPr>
          <p:nvPr>
            <p:ph idx="1"/>
          </p:nvPr>
        </p:nvSpPr>
        <p:spPr>
          <a:xfrm>
            <a:off x="609600" y="1122680"/>
            <a:ext cx="10972800" cy="5629275"/>
          </a:xfrm>
        </p:spPr>
        <p:txBody>
          <a:bodyPr/>
          <a:p>
            <a:r>
              <a:rPr lang="en-US" sz="1600" b="1"/>
              <a:t>Preparation</a:t>
            </a:r>
            <a:endParaRPr lang="en-US" sz="1600" b="1"/>
          </a:p>
          <a:p>
            <a:r>
              <a:rPr lang="en-US" sz="1600"/>
              <a:t>Develop policies and procedures.</a:t>
            </a:r>
            <a:endParaRPr lang="en-US" sz="1600"/>
          </a:p>
          <a:p>
            <a:r>
              <a:rPr lang="en-US" sz="1600"/>
              <a:t>Train investigators.</a:t>
            </a:r>
            <a:endParaRPr lang="en-US" sz="1600"/>
          </a:p>
          <a:p>
            <a:r>
              <a:rPr lang="en-US" sz="1600" b="1"/>
              <a:t>Identification</a:t>
            </a:r>
            <a:endParaRPr lang="en-US" sz="1600" b="1"/>
          </a:p>
          <a:p>
            <a:r>
              <a:rPr lang="en-US" sz="1600"/>
              <a:t>Identify relevant evidence sources.</a:t>
            </a:r>
            <a:endParaRPr lang="en-US" sz="1600"/>
          </a:p>
          <a:p>
            <a:r>
              <a:rPr lang="en-US" sz="1600"/>
              <a:t>Document details about evidence.</a:t>
            </a:r>
            <a:endParaRPr lang="en-US" sz="1600"/>
          </a:p>
          <a:p>
            <a:r>
              <a:rPr lang="en-US" sz="1600" b="1"/>
              <a:t>Collection</a:t>
            </a:r>
            <a:endParaRPr lang="en-US" sz="1600" b="1"/>
          </a:p>
          <a:p>
            <a:r>
              <a:rPr lang="en-US" sz="1600"/>
              <a:t>Preserve evidence by creating forensic images.</a:t>
            </a:r>
            <a:endParaRPr lang="en-US" sz="1600"/>
          </a:p>
          <a:p>
            <a:r>
              <a:rPr lang="en-US" sz="1600"/>
              <a:t>Maintain a chain of custody.</a:t>
            </a:r>
            <a:endParaRPr lang="en-US" sz="1600"/>
          </a:p>
          <a:p>
            <a:r>
              <a:rPr lang="en-US" sz="1600" b="1"/>
              <a:t>Examination</a:t>
            </a:r>
            <a:endParaRPr lang="en-US" sz="1600" b="1"/>
          </a:p>
          <a:p>
            <a:r>
              <a:rPr lang="en-US" sz="1600"/>
              <a:t>Recover data and analyze file systems.</a:t>
            </a:r>
            <a:endParaRPr lang="en-US" sz="1600"/>
          </a:p>
          <a:p>
            <a:r>
              <a:rPr lang="en-US" sz="1600"/>
              <a:t>Examine metadata and logs.</a:t>
            </a:r>
            <a:endParaRPr lang="en-US" sz="1600"/>
          </a:p>
          <a:p>
            <a:r>
              <a:rPr lang="en-US" sz="1600" b="1"/>
              <a:t>Presentation</a:t>
            </a:r>
            <a:endParaRPr lang="en-US" sz="1600" b="1"/>
          </a:p>
          <a:p>
            <a:r>
              <a:rPr lang="en-US" sz="1600"/>
              <a:t>Prepare a detailed report.</a:t>
            </a:r>
            <a:endParaRPr lang="en-US" sz="1600"/>
          </a:p>
          <a:p>
            <a:r>
              <a:rPr lang="en-US" sz="1600"/>
              <a:t>Provide expert testimony if needed.</a:t>
            </a:r>
            <a:endParaRPr lang="en-US" sz="1600"/>
          </a:p>
          <a:p>
            <a:r>
              <a:rPr lang="en-US" sz="1600" b="1"/>
              <a:t>Review and Feedback</a:t>
            </a:r>
            <a:endParaRPr lang="en-US" sz="1600" b="1"/>
          </a:p>
          <a:p>
            <a:r>
              <a:rPr lang="en-US" sz="1600"/>
              <a:t>Conduct a post-investigation review.</a:t>
            </a:r>
            <a:endParaRPr lang="en-US" sz="1600"/>
          </a:p>
          <a:p>
            <a:r>
              <a:rPr lang="en-US" sz="1600"/>
              <a:t>Implement continuous improvements</a:t>
            </a:r>
            <a:endParaRPr lang="en-US" sz="1600"/>
          </a:p>
        </p:txBody>
      </p:sp>
      <p:sp>
        <p:nvSpPr>
          <p:cNvPr id="4" name="Text Box 3"/>
          <p:cNvSpPr txBox="1"/>
          <p:nvPr/>
        </p:nvSpPr>
        <p:spPr>
          <a:xfrm>
            <a:off x="1389380" y="6184900"/>
            <a:ext cx="4064000" cy="368300"/>
          </a:xfrm>
          <a:prstGeom prst="rect">
            <a:avLst/>
          </a:prstGeom>
          <a:noFill/>
        </p:spPr>
        <p:txBody>
          <a:bodyPr wrap="square" rtlCol="0">
            <a:spAutoFit/>
          </a:bodyPr>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Existing system</a:t>
            </a:r>
            <a:endParaRPr lang="en-IN" altLang="en-US"/>
          </a:p>
        </p:txBody>
      </p:sp>
      <p:sp>
        <p:nvSpPr>
          <p:cNvPr id="3" name="Content Placeholder 2"/>
          <p:cNvSpPr>
            <a:spLocks noGrp="1"/>
          </p:cNvSpPr>
          <p:nvPr>
            <p:ph idx="1"/>
          </p:nvPr>
        </p:nvSpPr>
        <p:spPr/>
        <p:txBody>
          <a:bodyPr/>
          <a:p>
            <a:r>
              <a:rPr lang="en-US"/>
              <a:t>Forensic Frameworks and Methodologies</a:t>
            </a:r>
            <a:endParaRPr lang="en-US"/>
          </a:p>
          <a:p>
            <a:r>
              <a:rPr lang="en-US" sz="1800"/>
              <a:t>ACPO Good Practice Guide: Provides guidelines for digital evidence collection, focusing on maintaining the integrity of data.</a:t>
            </a:r>
            <a:endParaRPr lang="en-US" sz="1800"/>
          </a:p>
          <a:p>
            <a:r>
              <a:rPr lang="en-US" sz="1800"/>
              <a:t>ISO/IEC 27037: Standards for identifying, collecting, and analyzing digital evidence.</a:t>
            </a:r>
            <a:endParaRPr lang="en-US" sz="1800"/>
          </a:p>
          <a:p>
            <a:r>
              <a:rPr lang="en-US" sz="1800"/>
              <a:t>NIST Guidelines: National Institute of Standards and Technology guidelines on digital forensics best practices.</a:t>
            </a: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Conclusion</a:t>
            </a:r>
            <a:endParaRPr lang="en-IN" altLang="en-US"/>
          </a:p>
        </p:txBody>
      </p:sp>
      <p:sp>
        <p:nvSpPr>
          <p:cNvPr id="3" name="Content Placeholder 2"/>
          <p:cNvSpPr>
            <a:spLocks noGrp="1"/>
          </p:cNvSpPr>
          <p:nvPr>
            <p:ph idx="1"/>
          </p:nvPr>
        </p:nvSpPr>
        <p:spPr/>
        <p:txBody>
          <a:bodyPr/>
          <a:p>
            <a:r>
              <a:rPr lang="en-US" sz="1800"/>
              <a:t>In conclusion, digital forensics systems play a vital role in enhancing security, ensuring justice, and protecting individual rights in our increasingly digital world. By providing reliable methods for collecting and analyzing digital evidence, these systems help law enforcement solve crimes, assist organizations in mitigating cyber threats, and uphold legal standards. </a:t>
            </a:r>
            <a:endParaRPr lang="en-US" sz="1800"/>
          </a:p>
          <a:p>
            <a:endParaRPr lang="en-US" sz="1800"/>
          </a:p>
          <a:p>
            <a:r>
              <a:rPr lang="en-US" sz="1800"/>
              <a:t>Ultimately, the effectiveness and integrity of digital forensics contribute to a safer environment, fostering trust in digital interactions. This assurance helps individuals feel more secure, knowing that their rights and data are protected, leading to greater confidence in technology and its applications. In this way, </a:t>
            </a:r>
            <a:r>
              <a:rPr lang="en-IN" altLang="en-US" sz="1800"/>
              <a:t>D</a:t>
            </a:r>
            <a:r>
              <a:rPr lang="en-US" sz="1800"/>
              <a:t>igital forensics systems significantly contribute to overall societal well-being and happiness</a:t>
            </a:r>
            <a:r>
              <a:rPr lang="en-US"/>
              <a: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6" name="Content Placeholder 5" descr="th (1)"/>
          <p:cNvPicPr>
            <a:picLocks noChangeAspect="1"/>
          </p:cNvPicPr>
          <p:nvPr>
            <p:ph idx="1"/>
          </p:nvPr>
        </p:nvPicPr>
        <p:blipFill>
          <a:blip r:embed="rId1"/>
          <a:stretch>
            <a:fillRect/>
          </a:stretch>
        </p:blipFill>
        <p:spPr>
          <a:xfrm>
            <a:off x="5467985" y="3005455"/>
            <a:ext cx="3048000" cy="1714500"/>
          </a:xfrm>
          <a:prstGeom prst="rect">
            <a:avLst/>
          </a:prstGeom>
        </p:spPr>
      </p:pic>
      <p:sp>
        <p:nvSpPr>
          <p:cNvPr id="2" name="Title 1"/>
          <p:cNvSpPr>
            <a:spLocks noGrp="1"/>
          </p:cNvSpPr>
          <p:nvPr>
            <p:ph type="title"/>
          </p:nvPr>
        </p:nvSpPr>
        <p:spPr>
          <a:xfrm>
            <a:off x="3845560" y="2683510"/>
            <a:ext cx="6294120" cy="1821180"/>
          </a:xfrm>
        </p:spPr>
        <p:txBody>
          <a:bodyPr/>
          <a:p>
            <a:r>
              <a:rPr lang="en-IN" altLang="en-US" sz="5400" b="1"/>
              <a:t>THANKYOU.....</a:t>
            </a:r>
            <a:endParaRPr lang="en-IN" altLang="en-US" sz="5400" b="1"/>
          </a:p>
        </p:txBody>
      </p:sp>
    </p:spTree>
  </p:cSld>
  <p:clrMapOvr>
    <a:masterClrMapping/>
  </p:clrMapOvr>
</p:sld>
</file>

<file path=ppt/tags/tag1.xml><?xml version="1.0" encoding="utf-8"?>
<p:tagLst xmlns:p="http://schemas.openxmlformats.org/presentationml/2006/main">
  <p:tag name="TABLE_ENDDRAG_ORIGIN_RECT" val="864*393"/>
  <p:tag name="TABLE_ENDDRAG_RECT" val="48*126*864*393"/>
</p:tagLst>
</file>

<file path=ppt/tags/tag2.xml><?xml version="1.0" encoding="utf-8"?>
<p:tagLst xmlns:p="http://schemas.openxmlformats.org/presentationml/2006/main">
  <p:tag name="TABLE_ENDDRAG_ORIGIN_RECT" val="864*419"/>
  <p:tag name="TABLE_ENDDRAG_RECT" val="48*91*864*419"/>
</p:tagLst>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6613</Words>
  <Application>WPS Presentation</Application>
  <PresentationFormat>Widescreen</PresentationFormat>
  <Paragraphs>164</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Microsoft YaHei</vt:lpstr>
      <vt:lpstr>Arial Unicode MS</vt:lpstr>
      <vt:lpstr>Calibri</vt:lpstr>
      <vt:lpstr>Algerian</vt:lpstr>
      <vt:lpstr>Agency FB</vt:lpstr>
      <vt:lpstr>Arial Black</vt:lpstr>
      <vt:lpstr>Arial Narrow</vt:lpstr>
      <vt:lpstr>Arial Rounded MT Bold</vt:lpstr>
      <vt:lpstr>Avignon Pro Demi</vt:lpstr>
      <vt:lpstr>Bradley Hand ITC</vt:lpstr>
      <vt:lpstr>Bodoni MT Poster Compressed</vt:lpstr>
      <vt:lpstr>Blackadder ITC</vt:lpstr>
      <vt:lpstr>Bernard MT Condensed</vt:lpstr>
      <vt:lpstr>Berlin Sans FB Demi</vt:lpstr>
      <vt:lpstr>Art_mountaineering</vt:lpstr>
      <vt:lpstr>PowerPoint 演示文稿</vt:lpstr>
      <vt:lpstr>Content</vt:lpstr>
      <vt:lpstr>INTRODUCTION</vt:lpstr>
      <vt:lpstr>ABSTRACT</vt:lpstr>
      <vt:lpstr>PowerPoint 演示文稿</vt:lpstr>
      <vt:lpstr>Literature Survey</vt:lpstr>
      <vt:lpstr>OBJECTIVES</vt:lpstr>
      <vt:lpstr>REAL TIME APPLICATION</vt:lpstr>
      <vt:lpstr>ADVANTAGES &amp; DISADVANTAGES</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siddh</dc:creator>
  <cp:lastModifiedBy>Siddhant Parjane</cp:lastModifiedBy>
  <cp:revision>7</cp:revision>
  <dcterms:created xsi:type="dcterms:W3CDTF">2024-10-14T15:24:00Z</dcterms:created>
  <dcterms:modified xsi:type="dcterms:W3CDTF">2024-10-24T06:06:13Z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30DF2364EF6D44BF92E28E81A8DDDC3E_13</vt:lpwstr>
  </property>
  <property fmtid="{D5CDD505-2E9C-101B-9397-08002B2CF9AE}" pid="3" name="KSOProductBuildVer">
    <vt:lpwstr>1033-12.2.0.18283</vt:lpwstr>
  </property>
</Properties>
</file>